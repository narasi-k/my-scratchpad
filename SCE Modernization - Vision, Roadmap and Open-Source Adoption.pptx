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JetBrains Mono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d657fc1d-69c8-483c-a1d9-4479773ed7ed.fntdata" /><ns0:Relationship Id="rIdFont21" Type="http://schemas.openxmlformats.org/officeDocument/2006/relationships/font" Target="fonts/eedccaf8-d6e3-4068-b30d-338cc4542590.fntdata" /><ns0:Relationship Id="rIdFont22" Type="http://schemas.openxmlformats.org/officeDocument/2006/relationships/font" Target="fonts/1293e3d2-08f6-4f8e-bfe0-cf25e0a82ab5.fntdata" /><ns0:Relationship Id="rIdFont23" Type="http://schemas.openxmlformats.org/officeDocument/2006/relationships/font" Target="fonts/f2550855-a99b-4456-9f57-d9d72bb7d9f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990379"/>
            <a:ext cx="108204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990379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09950" y="4318992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81671"/>
            <a:ext cx="19050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543621"/>
            <a:ext cx="11506200" cy="5914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Plus Jakarta Sans"/>
              </a:rPr>
              <a:t>SCE Modernization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25564"/>
            <a:ext cx="10251281" cy="3219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0" sz="1950" i="0" u="none">
                <a:solidFill>
                  <a:srgbClr val="94A3B8"/>
                </a:solidFill>
                <a:latin typeface="Plus Jakarta Sans"/>
              </a:rPr>
              <a:t>Vision, Practical Roadmap, and Open-Source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181671"/>
            <a:ext cx="4298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STATISTICAL PROGRAMMING TEAM ALL-HANDS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66604"/>
            <a:ext cx="2976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76154"/>
            <a:ext cx="2976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90-Minute Interactive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2375" y="4266604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Target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2375" y="4476154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Shared Vision &amp; Working Group Invitations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586037"/>
            <a:ext cx="5257800" cy="2724150"/>
          </a:xfrm>
          <a:prstGeom prst="roundRect">
            <a:avLst>
              <a:gd name="adj" fmla="val 48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95575"/>
            <a:ext cx="5257800" cy="2505075"/>
          </a:xfrm>
          <a:prstGeom prst="roundRect">
            <a:avLst>
              <a:gd name="adj" fmla="val 532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586037"/>
            <a:ext cx="38100" cy="2724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2695575"/>
            <a:ext cx="38100" cy="25050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947987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057525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DIAGNOSTIC &amp;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Current State: Reliable Engine, Real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700" y="2928937"/>
            <a:ext cx="22752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Proven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386137"/>
            <a:ext cx="4629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High Stability: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Decades of predictable submission deliveries.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957637"/>
            <a:ext cx="4629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Deep Domain Mastery: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Highly established legacy macros.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529137"/>
            <a:ext cx="4629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Standardized Pipelines: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Familiar processes across clinical teams.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3038475"/>
            <a:ext cx="29503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Plus Jakarta Sans"/>
              </a:rPr>
              <a:t>Audit Findings &amp;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95675"/>
            <a:ext cx="4629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Plus Jakarta Sans"/>
              </a:rPr>
              <a:t>Traceability Friction: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Manual logs complicate GxP audits.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067175"/>
            <a:ext cx="5562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Plus Jakarta Sans"/>
              </a:rPr>
              <a:t>Version Locking: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Fragile file-share copy mechanisms.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419600"/>
            <a:ext cx="46291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Plus Jakarta Sans"/>
              </a:rPr>
              <a:t>Ecosystem Silos: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Blocked from modern data science toolkits.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89064"/>
            <a:ext cx="3454449" cy="1879996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989064"/>
            <a:ext cx="3454449" cy="1879996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989064"/>
            <a:ext cx="3454449" cy="1879996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303389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3303389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3303389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STRATEGIC IMPERATIVE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Drivers: Why Modernize Right 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722489"/>
            <a:ext cx="38088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Audit Remediation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074914"/>
            <a:ext cx="29972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Automated lineage eliminates human compliance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3722489"/>
            <a:ext cx="38088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Talent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4074914"/>
            <a:ext cx="29972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Next-generation statisticians expect R and Python.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722489"/>
            <a:ext cx="38088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Cycle Time Velocity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124" y="4074914"/>
            <a:ext cx="29972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40% faster clinical table generation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62300"/>
            <a:ext cx="230505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24250" y="3162300"/>
            <a:ext cx="230505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62700" y="3162300"/>
            <a:ext cx="230505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01150" y="3052762"/>
            <a:ext cx="2305050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3843337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843337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0" y="3843337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TARGET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Next-Gen SCE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38525"/>
            <a:ext cx="228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LAYER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686175"/>
            <a:ext cx="2400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Cloud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981450"/>
            <a:ext cx="1924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Elastic containers on Kubernetes.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2375" y="3438525"/>
            <a:ext cx="228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LAYER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2375" y="3686175"/>
            <a:ext cx="2400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Polyglot 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375" y="3981450"/>
            <a:ext cx="1924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RStudio, VS Code, SAS Studio.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3438525"/>
            <a:ext cx="228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LAYER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3686175"/>
            <a:ext cx="2400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Package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3981450"/>
            <a:ext cx="1924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Curated, frozen CRAN &amp; PyPI repos.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9275" y="3328987"/>
            <a:ext cx="228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LAYER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9275" y="3576637"/>
            <a:ext cx="2400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Git &amp; CI/CD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9275" y="3871912"/>
            <a:ext cx="19240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Automated qualification &amp; audit trails.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595562"/>
            <a:ext cx="10820400" cy="2628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2595562"/>
          <a:ext cx="10820397" cy="26289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23504"/>
                <a:gridCol w="2624881"/>
                <a:gridCol w="3431678"/>
                <a:gridCol w="2440334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Platform / Tool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Primary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Core Rationale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Transition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 &amp; pharmaverse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Clinical TLGs &amp; ADaM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Community-backed standards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High efficiency gains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Python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AI, NLP &amp; Data Prep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Rich ML library ecosystem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Accelerated automation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Git / GitHub Enterprise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Source Code Management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Immutable audit records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Resolves audit gaps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SAS Interoperability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Legacy Study Maintenance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Zero disruption to active submissions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Zero transition shock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EVALUATION &amp;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Platform &amp; Tooling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48012"/>
            <a:ext cx="2562225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148012"/>
            <a:ext cx="25622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38525" y="3148012"/>
            <a:ext cx="2562225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38525" y="3148012"/>
            <a:ext cx="25622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3038475"/>
            <a:ext cx="2562225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0" y="3038475"/>
            <a:ext cx="25622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43975" y="3038475"/>
            <a:ext cx="2562225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43975" y="3038475"/>
            <a:ext cx="2562225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EXECUTION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Four-Stage Modernization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14712"/>
            <a:ext cx="2276475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Q1-Q2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3414712"/>
            <a:ext cx="2276475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3305175"/>
            <a:ext cx="2276475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475" y="3305175"/>
            <a:ext cx="2276475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Next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748087"/>
            <a:ext cx="28628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Stage 1: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043362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Container infra validation and package repo setup.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748087"/>
            <a:ext cx="28628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Stage 2: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9025" y="4043362"/>
            <a:ext cx="22764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Dual-run programming on non-critical study cohorts.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0" y="3638550"/>
            <a:ext cx="28628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Stage 3: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3933825"/>
            <a:ext cx="22764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Team-wide Git migration and pharmaverse reporting.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475" y="3638550"/>
            <a:ext cx="28628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Stage 4: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475" y="3933825"/>
            <a:ext cx="22764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Open-source first for all upcoming submission pipelines.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38875" y="3014662"/>
            <a:ext cx="9525" cy="1714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INDUSTRY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Regulatory &amp; Peer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8768" y="3090862"/>
            <a:ext cx="4500562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Plus Jakarta Sans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8768" y="4119562"/>
            <a:ext cx="45005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FDA Pilot Submissions Accepted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8768" y="4433887"/>
            <a:ext cx="4500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FDA R Submissions Working Group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4853" y="3090862"/>
            <a:ext cx="4131468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Plus Jakarta Sans"/>
              </a:rPr>
              <a:t>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4853" y="4119562"/>
            <a:ext cx="41314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lus Jakarta Sans"/>
              </a:rPr>
              <a:t>Pharma Companies in pharmaverse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4853" y="4433887"/>
            <a:ext cx="4131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Collaborative clinical reporting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500312"/>
            <a:ext cx="108204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90912"/>
            <a:ext cx="108204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481512"/>
            <a:ext cx="108204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27908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80012" y="27908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" y="37814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80012" y="37814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925" y="47720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80012" y="4772025"/>
            <a:ext cx="533400" cy="28575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CLARITY &amp;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Open-Source: Myth vs. 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0275" y="2700337"/>
            <a:ext cx="32463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"Regulators require submissions coded only in SAS."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6362" y="2700337"/>
            <a:ext cx="450696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FDA guidance explicitly states no software endorsement.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0275" y="3690937"/>
            <a:ext cx="32463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"Open source cannot satisfy 21 CFR Part 11 validation."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6362" y="3690937"/>
            <a:ext cx="450696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 Validation Hub framework ensures rigorous qualification.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0275" y="4681537"/>
            <a:ext cx="32463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"We must discard all existing SAS programs overnight."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6362" y="4791075"/>
            <a:ext cx="53356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Both run side-by-side in a hybrid coexistence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2847975"/>
            <a:ext cx="400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MYTH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4312" y="2847975"/>
            <a:ext cx="400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JetBrains Mono"/>
              </a:rPr>
              <a:t>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3838575"/>
            <a:ext cx="400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MYTH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4312" y="3838575"/>
            <a:ext cx="400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JetBrains Mono"/>
              </a:rPr>
              <a:t>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225" y="4829175"/>
            <a:ext cx="400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MYTH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4312" y="4829175"/>
            <a:ext cx="400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JetBrains Mono"/>
              </a:rPr>
              <a:t>FACT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424112"/>
            <a:ext cx="5694164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1862"/>
            <a:ext cx="5694164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19612"/>
            <a:ext cx="5694164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424112"/>
            <a:ext cx="38100" cy="876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471862"/>
            <a:ext cx="38100" cy="876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519612"/>
            <a:ext cx="38100" cy="876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964" y="2195512"/>
            <a:ext cx="4745235" cy="3429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964" y="2195512"/>
            <a:ext cx="4745235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RISK MITIGATION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Phased Migration: Zero Disruption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614612"/>
            <a:ext cx="68235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Dual-Programming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890837"/>
            <a:ext cx="649858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Primary in SAS, validation in R for pilot 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662362"/>
            <a:ext cx="68235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Curated Internal Libraries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938587"/>
            <a:ext cx="649858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Approved, pre-qualified packages with frozen versions.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710112"/>
            <a:ext cx="68235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Study-Level Opt-In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986337"/>
            <a:ext cx="649858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No in-flight clinical studies forced mid-stream.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28950"/>
            <a:ext cx="3454449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138487"/>
            <a:ext cx="3454449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28950"/>
            <a:ext cx="3454449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43275"/>
            <a:ext cx="3143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74" y="3452812"/>
            <a:ext cx="21907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3343275"/>
            <a:ext cx="2476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NEXT HORIZONS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AI &amp; Workflow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43325"/>
            <a:ext cx="390888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Assisted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76700"/>
            <a:ext cx="30734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GitHub Copilot for boilerplate TLG logic.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3852862"/>
            <a:ext cx="390888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Automated Linting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6974" y="4186237"/>
            <a:ext cx="37227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Instant syntax verification on commit.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743325"/>
            <a:ext cx="39019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Agentic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4076700"/>
            <a:ext cx="30734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Auto-generating Define-XML and spec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71812"/>
            <a:ext cx="3454449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71812"/>
            <a:ext cx="3454449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71812"/>
            <a:ext cx="3454449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PEOPLE &amp; 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Skill Building: No Programmer Left Behind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76612"/>
            <a:ext cx="3092499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TRACK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376612"/>
            <a:ext cx="3092499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TRACK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499" y="3376612"/>
            <a:ext cx="3092499" cy="1104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TRACK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00462"/>
            <a:ext cx="390888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 for SAS Programmers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33837"/>
            <a:ext cx="30734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Hands-on tidyverse and pharmaverse syntax.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3700462"/>
            <a:ext cx="390888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Modern Git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6974" y="4033837"/>
            <a:ext cx="30734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Branching, pull requests, and peer reviews.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700462"/>
            <a:ext cx="39019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Hackathons &amp; Sandboxes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4033837"/>
            <a:ext cx="30734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Safe sandbox environments to test real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71700" y="4135635"/>
            <a:ext cx="2495550" cy="504825"/>
          </a:xfrm>
          <a:prstGeom prst="roundRect">
            <a:avLst>
              <a:gd name="adj" fmla="val 1886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57750" y="4135635"/>
            <a:ext cx="2390775" cy="504825"/>
          </a:xfrm>
          <a:prstGeom prst="roundRect">
            <a:avLst>
              <a:gd name="adj" fmla="val 1886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39025" y="4135635"/>
            <a:ext cx="2581275" cy="504825"/>
          </a:xfrm>
          <a:prstGeom prst="roundRect">
            <a:avLst>
              <a:gd name="adj" fmla="val 1886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900" y="1674614"/>
            <a:ext cx="23812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2835" y="2017514"/>
            <a:ext cx="10626328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450" i="0" u="none">
                <a:solidFill>
                  <a:srgbClr val="FFFFFF"/>
                </a:solidFill>
                <a:latin typeface="Plus Jakarta Sans"/>
              </a:rPr>
              <a:t>Join the SCE Modernization Working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875" y="3259335"/>
            <a:ext cx="8096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We need study leads, core programmers, and reviewers. Commit 2 hours per week to co-build our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8656" y="4983360"/>
            <a:ext cx="3214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8BDF8"/>
                </a:solidFill>
                <a:latin typeface="JetBrains Mono"/>
              </a:rPr>
              <a:t>Questions &amp; Open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0921" y="1684139"/>
            <a:ext cx="1583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JetBrains Mono"/>
              </a:rPr>
              <a:t>CALL TO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5506" y="4288035"/>
            <a:ext cx="2547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WG 1: Open-Source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4653" y="4288035"/>
            <a:ext cx="2416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WG 2: Validation &amp;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2115" y="4288035"/>
            <a:ext cx="2655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WG 3: Training &amp; Enablement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7810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https://posit.co/sites/default/files/styles/small_hq/public/image/2026-04/NMPD.png?itok=LXfxd0pe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1500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posit.co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