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0" y="1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96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30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30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430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30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claude.ai/artifact/SjLhukyeTMQB1kpgFKXnaE#slide-8" TargetMode="External"/><Relationship Id="rId3" Type="http://schemas.openxmlformats.org/officeDocument/2006/relationships/hyperlink" Target="https://claude.ai/artifact/SjLhukyeTMQB1kpgFKXnaE#slide-3" TargetMode="External"/><Relationship Id="rId7" Type="http://schemas.openxmlformats.org/officeDocument/2006/relationships/hyperlink" Target="https://claude.ai/artifact/SjLhukyeTMQB1kpgFKXnaE#slide-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aude.ai/artifact/SjLhukyeTMQB1kpgFKXnaE#slide-6" TargetMode="External"/><Relationship Id="rId5" Type="http://schemas.openxmlformats.org/officeDocument/2006/relationships/hyperlink" Target="https://claude.ai/artifact/SjLhukyeTMQB1kpgFKXnaE#slide-5" TargetMode="External"/><Relationship Id="rId4" Type="http://schemas.openxmlformats.org/officeDocument/2006/relationships/hyperlink" Target="https://claude.ai/artifact/SjLhukyeTMQB1kpgFKXnaE#slide-4" TargetMode="External"/><Relationship Id="rId9" Type="http://schemas.openxmlformats.org/officeDocument/2006/relationships/hyperlink" Target="https://claude.ai/artifact/SjLhukyeTMQB1kpgFKXnaE#slide-9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What Is a GBS SCE Working Group?</a:t>
            </a:r>
            <a:endParaRPr lang="en-US" sz="36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5975" y="1572895"/>
            <a:ext cx="5175250" cy="155847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72606" y="1804126"/>
            <a:ext cx="48018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Purpose</a:t>
            </a:r>
            <a:endParaRPr lang="en-US" sz="18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9887" y="2180046"/>
            <a:ext cx="4801847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Advance one focused SCE modernization topic</a:t>
            </a:r>
            <a:endParaRPr lang="en-US" sz="1400" dirty="0">
              <a:latin typeface="+mj-lt"/>
            </a:endParaRPr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Recommend solutions, standards and best practices</a:t>
            </a:r>
            <a:endParaRPr lang="en-US" sz="1400" dirty="0">
              <a:latin typeface="+mj-lt"/>
            </a:endParaRPr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Produce reusable, adoptable deliverables</a:t>
            </a:r>
            <a:endParaRPr lang="en-US" sz="14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00775" y="1572895"/>
            <a:ext cx="5175250" cy="155847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57406" y="1804126"/>
            <a:ext cx="48018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Expectations</a:t>
            </a:r>
            <a:endParaRPr lang="en-US" sz="18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54688" y="2180046"/>
            <a:ext cx="469694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Attend sessions and contribute</a:t>
            </a:r>
            <a:endParaRPr lang="en-US" sz="1400" dirty="0">
              <a:latin typeface="+mj-lt"/>
            </a:endParaRPr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Share findings openly across working groups</a:t>
            </a:r>
            <a:endParaRPr lang="en-US" sz="1400" dirty="0">
              <a:latin typeface="+mj-lt"/>
            </a:endParaRPr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Escalate decisions to the leadership team</a:t>
            </a:r>
            <a:endParaRPr lang="en-US" sz="14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15975" y="3340917"/>
            <a:ext cx="5175250" cy="155847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2606" y="3572147"/>
            <a:ext cx="48018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Time commitment</a:t>
            </a:r>
            <a:endParaRPr lang="en-US" sz="18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69888" y="3948067"/>
            <a:ext cx="469694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About 2 - 4 hours per week per member</a:t>
            </a:r>
            <a:endParaRPr lang="en-US" sz="1400" dirty="0">
              <a:latin typeface="+mj-lt"/>
            </a:endParaRPr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Periodic meetings to discuss and track status</a:t>
            </a:r>
            <a:endParaRPr lang="en-US" sz="1400" dirty="0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00775" y="3340917"/>
            <a:ext cx="5175250" cy="155847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57406" y="3572147"/>
            <a:ext cx="48018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Deliverables</a:t>
            </a:r>
            <a:endParaRPr lang="en-US" sz="18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54688" y="3948067"/>
            <a:ext cx="469694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Working Group Charter: Scope, goals, milestones</a:t>
            </a:r>
            <a:endParaRPr lang="en-US" sz="1400" dirty="0">
              <a:latin typeface="+mj-lt"/>
            </a:endParaRPr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Solutions, Guidance, Proof-of-Concepts, Templates, Tools</a:t>
            </a:r>
          </a:p>
          <a:p>
            <a:pPr marL="156718" indent="-156718">
              <a:lnSpc>
                <a:spcPts val="189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Quarterly updates</a:t>
            </a:r>
            <a:endParaRPr lang="en-US" sz="1400" dirty="0">
              <a:latin typeface="+mj-lt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70059598-377A-56E8-E895-99948A96D672}"/>
              </a:ext>
            </a:extLst>
          </p:cNvPr>
          <p:cNvSpPr/>
          <p:nvPr/>
        </p:nvSpPr>
        <p:spPr>
          <a:xfrm>
            <a:off x="3508375" y="5012834"/>
            <a:ext cx="5175250" cy="155847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604AE6DC-8A46-42FA-5811-5E879BE4D169}"/>
              </a:ext>
            </a:extLst>
          </p:cNvPr>
          <p:cNvSpPr/>
          <p:nvPr/>
        </p:nvSpPr>
        <p:spPr>
          <a:xfrm>
            <a:off x="3755020" y="5222199"/>
            <a:ext cx="48018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Roles</a:t>
            </a:r>
            <a:endParaRPr lang="en-US" sz="1800" dirty="0">
              <a:latin typeface="+mj-lt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EB408384-2EED-A830-30C1-AED74AC010FB}"/>
              </a:ext>
            </a:extLst>
          </p:cNvPr>
          <p:cNvSpPr/>
          <p:nvPr/>
        </p:nvSpPr>
        <p:spPr>
          <a:xfrm>
            <a:off x="3852302" y="5598119"/>
            <a:ext cx="4696946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6718" indent="-156718" algn="l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Working Group Lead: Drive discussions, Serve as PoC</a:t>
            </a:r>
          </a:p>
          <a:p>
            <a:pPr marL="156718" indent="-156718">
              <a:lnSpc>
                <a:spcPts val="1890"/>
              </a:lnSpc>
              <a:buSzPct val="100000"/>
              <a:buChar char="•"/>
            </a:pPr>
            <a:r>
              <a:rPr lang="en-US" sz="1400" dirty="0">
                <a:solidFill>
                  <a:srgbClr val="2A3A40"/>
                </a:solidFill>
                <a:latin typeface="+mj-lt"/>
                <a:cs typeface="Arial" pitchFamily="34" charset="-120"/>
              </a:rPr>
              <a:t>Working Group Members: Contribute, Collaborate</a:t>
            </a:r>
            <a:endParaRPr lang="en-US" sz="1400" dirty="0">
              <a:latin typeface="+mj-lt"/>
            </a:endParaRPr>
          </a:p>
          <a:p>
            <a:pPr marL="156718" indent="-156718" algn="l">
              <a:lnSpc>
                <a:spcPts val="1890"/>
              </a:lnSpc>
              <a:buSzPct val="100000"/>
              <a:buChar char="•"/>
            </a:pPr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GBS SCE Working Groups at a Glance</a:t>
            </a:r>
            <a:endParaRPr lang="en-US" sz="320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5975" y="1466215"/>
            <a:ext cx="10775390" cy="3849856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8606" y="1966867"/>
            <a:ext cx="10554788" cy="0"/>
          </a:xfrm>
          <a:prstGeom prst="line">
            <a:avLst/>
          </a:prstGeom>
          <a:noFill/>
          <a:ln w="12700">
            <a:solidFill>
              <a:srgbClr val="14303A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206" y="1659346"/>
            <a:ext cx="32702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A70"/>
                </a:solidFill>
                <a:latin typeface="+mj-lt"/>
                <a:ea typeface="Arial" pitchFamily="34" charset="-122"/>
                <a:cs typeface="Arial" pitchFamily="34" charset="-120"/>
              </a:rPr>
              <a:t>Working group</a:t>
            </a:r>
            <a:endParaRPr lang="en-US" sz="12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44409" y="1659346"/>
            <a:ext cx="35722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A70"/>
                </a:solidFill>
                <a:latin typeface="+mj-lt"/>
                <a:ea typeface="Arial" pitchFamily="34" charset="-122"/>
                <a:cs typeface="Arial" pitchFamily="34" charset="-120"/>
              </a:rPr>
              <a:t>Focus</a:t>
            </a:r>
            <a:endParaRPr lang="en-US" sz="12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7872677" y="1659346"/>
            <a:ext cx="31394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A70"/>
                </a:solidFill>
                <a:latin typeface="+mj-lt"/>
                <a:ea typeface="Arial" pitchFamily="34" charset="-122"/>
                <a:cs typeface="Arial" pitchFamily="34" charset="-120"/>
              </a:rPr>
              <a:t>First outputs</a:t>
            </a:r>
            <a:endParaRPr lang="en-US" sz="1200" dirty="0">
              <a:latin typeface="+mj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18606" y="2493782"/>
            <a:ext cx="10554788" cy="0"/>
          </a:xfrm>
          <a:prstGeom prst="line">
            <a:avLst/>
          </a:prstGeom>
          <a:noFill/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7206" y="2062118"/>
            <a:ext cx="32702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 and Git</a:t>
            </a:r>
            <a:endParaRPr lang="en-US" sz="13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044409" y="2062118"/>
            <a:ext cx="357223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Make R and Git the trusted default for statistical programming.</a:t>
            </a:r>
          </a:p>
        </p:txBody>
      </p:sp>
      <p:sp>
        <p:nvSpPr>
          <p:cNvPr id="11" name="Text 9"/>
          <p:cNvSpPr/>
          <p:nvPr/>
        </p:nvSpPr>
        <p:spPr>
          <a:xfrm>
            <a:off x="7872676" y="2062118"/>
            <a:ext cx="345422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R and Git guidance, R based proof of concept</a:t>
            </a:r>
            <a:endParaRPr lang="en-US" sz="1300" dirty="0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8606" y="3106648"/>
            <a:ext cx="10554788" cy="0"/>
          </a:xfrm>
          <a:prstGeom prst="line">
            <a:avLst/>
          </a:prstGeom>
          <a:noFill/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47206" y="2585857"/>
            <a:ext cx="32702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E2E Metadata</a:t>
            </a:r>
            <a:endParaRPr lang="en-US" sz="13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44409" y="2585857"/>
            <a:ext cx="357223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Governed, machine-readable metadata (MDR, USDM)</a:t>
            </a:r>
            <a:endParaRPr lang="en-US" sz="130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72677" y="2585857"/>
            <a:ext cx="31394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MDR recommendation, pilot specs</a:t>
            </a:r>
            <a:endParaRPr lang="en-US" sz="130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8606" y="3504883"/>
            <a:ext cx="10554788" cy="0"/>
          </a:xfrm>
          <a:prstGeom prst="line">
            <a:avLst/>
          </a:prstGeom>
          <a:noFill/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7206" y="3198723"/>
            <a:ext cx="32702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and Workflow Automation</a:t>
            </a:r>
            <a:endParaRPr lang="en-US" sz="130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44409" y="3198723"/>
            <a:ext cx="357223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Safe AI use, from assistants to agents</a:t>
            </a:r>
            <a:endParaRPr lang="en-US" sz="130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872677" y="3198723"/>
            <a:ext cx="31394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AI use-cases and guidance, AI agent pilot</a:t>
            </a:r>
            <a:endParaRPr lang="en-US" sz="1300" dirty="0">
              <a:latin typeface="+mj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8606" y="3903119"/>
            <a:ext cx="10554788" cy="0"/>
          </a:xfrm>
          <a:prstGeom prst="line">
            <a:avLst/>
          </a:prstGeom>
          <a:noFill/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47206" y="3596958"/>
            <a:ext cx="32702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Risk-Based Validation and GxP</a:t>
            </a:r>
            <a:endParaRPr lang="en-US" sz="13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044409" y="3596958"/>
            <a:ext cx="357223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Risk-based QC, data lineage, </a:t>
            </a:r>
            <a:r>
              <a:rPr lang="en-US" sz="1300" dirty="0" err="1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GxP</a:t>
            </a: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 oversight</a:t>
            </a:r>
            <a:endParaRPr lang="en-US" sz="1300" dirty="0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872676" y="3596958"/>
            <a:ext cx="361111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Risk-based QC guidance, AI validation approach</a:t>
            </a:r>
            <a:endParaRPr lang="en-US" sz="1300" dirty="0">
              <a:latin typeface="+mj-l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8606" y="4301355"/>
            <a:ext cx="10554788" cy="0"/>
          </a:xfrm>
          <a:prstGeom prst="line">
            <a:avLst/>
          </a:prstGeom>
          <a:noFill/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47206" y="3995194"/>
            <a:ext cx="32702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Flow and Analytics</a:t>
            </a:r>
            <a:endParaRPr lang="en-US" sz="1300" dirty="0">
              <a:latin typeface="+mj-lt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044409" y="3995194"/>
            <a:ext cx="357223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Automated pipelines and interactive reports</a:t>
            </a:r>
            <a:endParaRPr lang="en-US" sz="1300" dirty="0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872677" y="3995194"/>
            <a:ext cx="31394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Reference data pipeline, report prototype</a:t>
            </a:r>
            <a:endParaRPr lang="en-US" sz="1300" dirty="0">
              <a:latin typeface="+mj-lt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18606" y="4699590"/>
            <a:ext cx="10554788" cy="0"/>
          </a:xfrm>
          <a:prstGeom prst="line">
            <a:avLst/>
          </a:prstGeom>
          <a:noFill/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47206" y="4393430"/>
            <a:ext cx="32702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Submissions</a:t>
            </a:r>
            <a:endParaRPr lang="en-US" sz="1300" dirty="0">
              <a:latin typeface="+mj-lt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044409" y="4393430"/>
            <a:ext cx="357223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Regulatory-ready eSub from the new workflow</a:t>
            </a:r>
            <a:endParaRPr lang="en-US" sz="1300" dirty="0">
              <a:latin typeface="+mj-l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872677" y="4393430"/>
            <a:ext cx="31394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Guidance, Checklists, mock submission</a:t>
            </a:r>
            <a:endParaRPr lang="en-US" sz="1300" dirty="0">
              <a:latin typeface="+mj-lt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47206" y="4791666"/>
            <a:ext cx="32702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Change Management and Training</a:t>
            </a:r>
            <a:endParaRPr lang="en-US" sz="1300" dirty="0">
              <a:latin typeface="+mj-l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044409" y="4791666"/>
            <a:ext cx="357223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Adoption, skills and communication</a:t>
            </a:r>
            <a:endParaRPr lang="en-US" sz="1300" dirty="0">
              <a:latin typeface="+mj-lt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872677" y="4791666"/>
            <a:ext cx="31394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dirty="0">
                <a:solidFill>
                  <a:srgbClr val="1C2A30"/>
                </a:solidFill>
                <a:latin typeface="+mj-lt"/>
                <a:ea typeface="Arial" pitchFamily="34" charset="-122"/>
                <a:cs typeface="Arial" pitchFamily="34" charset="-120"/>
              </a:rPr>
              <a:t>Training curriculum, SME network</a:t>
            </a:r>
            <a:endParaRPr lang="en-US" sz="1300" dirty="0">
              <a:latin typeface="+mj-lt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A70"/>
                </a:solidFill>
                <a:latin typeface="+mj-lt"/>
                <a:ea typeface="Arial" pitchFamily="34" charset="-122"/>
                <a:cs typeface="Arial" pitchFamily="34" charset="-120"/>
              </a:rPr>
              <a:t>Click a group name to open its detailed slide</a:t>
            </a:r>
            <a:endParaRPr lang="en-US" sz="12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Open Source and Git</a:t>
            </a:r>
            <a:endParaRPr lang="en-US" sz="32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437639"/>
            <a:ext cx="1088339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</a:rPr>
              <a:t>Make R and Git the trusted default for statistical programming.</a:t>
            </a:r>
            <a:endParaRPr lang="en-US" sz="16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3397250" cy="2555422"/>
          </a:xfrm>
          <a:prstGeom prst="roundRect">
            <a:avLst>
              <a:gd name="adj" fmla="val 3852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206" y="2088606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Scope</a:t>
            </a:r>
            <a:endParaRPr lang="en-US" sz="17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5250" y="2449286"/>
            <a:ext cx="2917168" cy="1808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R and Git based programming assessments, enablement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Git branching, pull-request and release workflow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Qualified package and environment management</a:t>
            </a:r>
            <a:endParaRPr lang="en-US" sz="13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97375" y="1882775"/>
            <a:ext cx="3397250" cy="2555422"/>
          </a:xfrm>
          <a:prstGeom prst="roundRect">
            <a:avLst>
              <a:gd name="adj" fmla="val 3852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8606" y="2088606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Deliverables</a:t>
            </a:r>
            <a:endParaRPr lang="en-US" sz="17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26650" y="2449286"/>
            <a:ext cx="2917168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R coding guidance, standards, coded review checklist</a:t>
            </a:r>
          </a:p>
          <a:p>
            <a:pPr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Git workflow/playbook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Proof of concept: one ADaM dataset in R and one TLF set</a:t>
            </a:r>
            <a:endParaRPr lang="en-US" sz="13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8775" y="1882775"/>
            <a:ext cx="3397250" cy="2555422"/>
          </a:xfrm>
          <a:prstGeom prst="roundRect">
            <a:avLst>
              <a:gd name="adj" fmla="val 3852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10006" y="2088606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Dependencies and success</a:t>
            </a:r>
            <a:endParaRPr lang="en-US" sz="17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08050" y="2449286"/>
            <a:ext cx="2974032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E2E Metadata group: MDR and specs</a:t>
            </a: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Validation group: package qualification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Success: a study team delivers TLFs in R with Git traceability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E2E Metadata</a:t>
            </a:r>
            <a:endParaRPr lang="en-US" sz="32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437639"/>
            <a:ext cx="1088339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</a:rPr>
              <a:t>Create one governed, machine-readable source of metadata that drives E2E automation.</a:t>
            </a:r>
            <a:endParaRPr lang="en-US" sz="16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206" y="2088606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Scope</a:t>
            </a:r>
            <a:endParaRPr lang="en-US" sz="17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5250" y="2449286"/>
            <a:ext cx="2917168" cy="158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MDR requirements and assessments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CDISC DDF and USDM evaluation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Alignment with Define-XML and ARS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Metadata ownership, versioning and approval</a:t>
            </a:r>
            <a:endParaRPr lang="en-US" sz="13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973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8606" y="2088606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Deliverables</a:t>
            </a:r>
            <a:endParaRPr lang="en-US" sz="17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26650" y="2449286"/>
            <a:ext cx="2917168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MDR requirements and recommendation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DDF and USDM assessment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Pilot: metadata driven generation of  dataset specs, TLF shells/DPPs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Metadata governance model</a:t>
            </a:r>
            <a:endParaRPr lang="en-US" sz="13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87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10006" y="2088606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Dependencies and success</a:t>
            </a:r>
            <a:endParaRPr lang="en-US" sz="17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08050" y="2449286"/>
            <a:ext cx="2917168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Data Flow group: pipelines consume metadata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AI group: agents need structured specs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Success: pilot study specs generated from the MDR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AI and Workflow Automation</a:t>
            </a:r>
            <a:endParaRPr lang="en-US" sz="32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437639"/>
            <a:ext cx="1088339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</a:rPr>
              <a:t>Adopt AI safely where it saves time: low-risk uses first, agents later.</a:t>
            </a:r>
            <a:endParaRPr lang="en-US" sz="16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2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Scope</a:t>
            </a:r>
            <a:endParaRPr lang="en-US" sz="17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5250" y="2449286"/>
            <a:ext cx="2917168" cy="158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Assessment of AI use cases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Evaluation framework: tests, accuracy, reproducibility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Track 1: AI-assisted programming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Track 2: agents for SDTM, ADaM, TLFs and eSub</a:t>
            </a:r>
            <a:endParaRPr lang="en-US" sz="13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973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86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Deliverables</a:t>
            </a:r>
            <a:endParaRPr lang="en-US" sz="17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26650" y="2449286"/>
            <a:ext cx="2917168" cy="158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AI use-cases and guidance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Evaluation and acceptance template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Approved tools and usage guardrails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AI agent pilot: requirements, I/O specs, results</a:t>
            </a:r>
            <a:endParaRPr lang="en-US" sz="13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87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100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Dependencies and success</a:t>
            </a:r>
            <a:endParaRPr lang="en-US" sz="17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08050" y="2449286"/>
            <a:ext cx="2917168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Validation group reviews all AI use for GxP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Metadata group supplies machine-readable specs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Success: one AI agent pilot meets its acceptance criteria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Risk-Based Validation and GxP</a:t>
            </a:r>
            <a:endParaRPr lang="en-US" sz="32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437639"/>
            <a:ext cx="1088339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</a:rPr>
              <a:t>Keep automation and AI inspection-ready, with validation effort scaled to risk.</a:t>
            </a:r>
            <a:endParaRPr lang="en-US" sz="16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2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Scope</a:t>
            </a:r>
            <a:endParaRPr lang="en-US" sz="17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5250" y="2449286"/>
            <a:ext cx="2917168" cy="158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Risk-based QC methods by output criticality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Data lineage and traceability requirements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AI-assisted QC guidance with human review checkpoints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GxP, Part 11 and CSA alignment</a:t>
            </a:r>
            <a:endParaRPr lang="en-US" sz="13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973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86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Deliverables</a:t>
            </a:r>
            <a:endParaRPr lang="en-US" sz="17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26650" y="2449286"/>
            <a:ext cx="2917168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Risk assessment and QC guidance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Validation approach for AI and automation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Lineage and traceability standards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 err="1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GxP</a:t>
            </a: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 compliance evidence templates</a:t>
            </a:r>
            <a:endParaRPr lang="en-US" sz="13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87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100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Dependencies and success</a:t>
            </a:r>
            <a:endParaRPr lang="en-US" sz="17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08050" y="2449286"/>
            <a:ext cx="2917168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Early reviewer for AI and Metadata groups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Open Source group: package qualification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Success: agreed QC approach and </a:t>
            </a:r>
            <a:r>
              <a:rPr lang="en-US" sz="1300" dirty="0" err="1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GxP</a:t>
            </a: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 guidance applied in a pilot study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Data Flow and Analytics</a:t>
            </a:r>
            <a:endParaRPr lang="en-US" sz="32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437639"/>
            <a:ext cx="1088339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</a:rPr>
              <a:t>Build reliable, automated pipelines from source data to analysis and reporting.</a:t>
            </a:r>
            <a:endParaRPr lang="en-US" sz="16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3397250" cy="2555422"/>
          </a:xfrm>
          <a:prstGeom prst="roundRect">
            <a:avLst>
              <a:gd name="adj" fmla="val 3852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2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Scope</a:t>
            </a:r>
            <a:endParaRPr lang="en-US" sz="17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5250" y="2449286"/>
            <a:ext cx="2917168" cy="1808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Data pipelines and orchestration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Data integration across clinical sources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Support for E2E data flow automation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Interactive reporting for review and monitoring</a:t>
            </a:r>
            <a:endParaRPr lang="en-US" sz="13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97375" y="1882775"/>
            <a:ext cx="3397250" cy="2555422"/>
          </a:xfrm>
          <a:prstGeom prst="roundRect">
            <a:avLst>
              <a:gd name="adj" fmla="val 3852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86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Deliverables</a:t>
            </a:r>
            <a:endParaRPr lang="en-US" sz="17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26650" y="2449286"/>
            <a:ext cx="2917168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Reference pipeline architecture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Pipeline proof of concept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Interactive report prototype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Data access and security guidance</a:t>
            </a:r>
            <a:endParaRPr lang="en-US" sz="13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8775" y="1882775"/>
            <a:ext cx="3397250" cy="2555422"/>
          </a:xfrm>
          <a:prstGeom prst="roundRect">
            <a:avLst>
              <a:gd name="adj" fmla="val 3852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100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Dependencies and success</a:t>
            </a:r>
            <a:endParaRPr lang="en-US" sz="17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08050" y="2449286"/>
            <a:ext cx="2917168" cy="158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Metadata group: specs drive pipelines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Validation group: review pipelines for compliance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Success: a pipeline runs from source to analysis dataset unattended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Submissions</a:t>
            </a:r>
            <a:endParaRPr lang="en-US" sz="32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437639"/>
            <a:ext cx="1088339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</a:rPr>
              <a:t>Make sure the new environment produces submissions regulators can accept.</a:t>
            </a:r>
            <a:endParaRPr lang="en-US" sz="16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2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Scope</a:t>
            </a:r>
            <a:endParaRPr lang="en-US" sz="17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5250" y="2449286"/>
            <a:ext cx="2917168" cy="158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Submission readiness guidelines and checklists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eSub and eCTD best practices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Regional differences: FDA, EMA, PMDA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Mock submission from an R-based workflow</a:t>
            </a:r>
            <a:endParaRPr lang="en-US" sz="13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973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86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Deliverables</a:t>
            </a:r>
            <a:endParaRPr lang="en-US" sz="17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26650" y="2449286"/>
            <a:ext cx="2917168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Submission checklist set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 err="1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eSub</a:t>
            </a: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 best-practices guide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Sample submission package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Gap analysis from the mock submission</a:t>
            </a:r>
            <a:endParaRPr lang="en-US" sz="13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8775" y="1882775"/>
            <a:ext cx="3397250" cy="2332537"/>
          </a:xfrm>
          <a:prstGeom prst="roundRect">
            <a:avLst>
              <a:gd name="adj" fmla="val 4220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10006" y="2088607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Dependencies and success</a:t>
            </a:r>
            <a:endParaRPr lang="en-US" sz="17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08050" y="2449286"/>
            <a:ext cx="2917168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Open Source group supplies R outputs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Validation group: lineage and evidence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Success: mock submission passes technical validation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3520"/>
              </a:lnSpc>
            </a:pPr>
            <a:r>
              <a:rPr lang="en-US" sz="3200" b="1" i="0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Change Management and </a:t>
            </a:r>
            <a:r>
              <a:rPr lang="en-US" b="1" dirty="0">
                <a:latin typeface="+mj-lt"/>
              </a:rPr>
              <a:t>Skill Building</a:t>
            </a:r>
            <a:endParaRPr lang="en-US" sz="32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1437642"/>
            <a:ext cx="1088339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766E"/>
                </a:solidFill>
                <a:latin typeface="+mj-lt"/>
                <a:ea typeface="Arial" pitchFamily="34" charset="-122"/>
                <a:cs typeface="Arial" pitchFamily="34" charset="-120"/>
              </a:rPr>
              <a:t>Help people adopt new tools and ways of working, and support change management.</a:t>
            </a:r>
            <a:endParaRPr lang="en-US" sz="16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5975" y="1882775"/>
            <a:ext cx="3397250" cy="2855072"/>
          </a:xfrm>
          <a:prstGeom prst="roundRect">
            <a:avLst>
              <a:gd name="adj" fmla="val 3852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206" y="2088604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Scope</a:t>
            </a:r>
            <a:endParaRPr lang="en-US" sz="17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5250" y="2449283"/>
            <a:ext cx="2917168" cy="213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Skill assessments and role-based learning paths</a:t>
            </a:r>
          </a:p>
          <a:p>
            <a:pPr marL="155956" indent="-155956">
              <a:lnSpc>
                <a:spcPts val="1755"/>
              </a:lnSpc>
              <a:buSzPct val="100000"/>
              <a:buFontTx/>
              <a:buChar char="•"/>
            </a:pPr>
            <a:r>
              <a:rPr lang="en-US" sz="1300" dirty="0">
                <a:latin typeface="+mj-lt"/>
              </a:rPr>
              <a:t>R for SAS programmers, helping ease the transition</a:t>
            </a: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Training for R, Git, AI tools and metadata</a:t>
            </a:r>
          </a:p>
          <a:p>
            <a:pPr marL="155956" indent="-155956">
              <a:lnSpc>
                <a:spcPts val="1755"/>
              </a:lnSpc>
              <a:buSzPct val="100000"/>
              <a:buFontTx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Building SME networks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Adoption metrics and feedback loops</a:t>
            </a:r>
            <a:endParaRPr lang="en-US" sz="13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97375" y="1882775"/>
            <a:ext cx="3397250" cy="2855072"/>
          </a:xfrm>
          <a:prstGeom prst="roundRect">
            <a:avLst>
              <a:gd name="adj" fmla="val 3852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8606" y="2088604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Deliverables</a:t>
            </a:r>
            <a:endParaRPr lang="en-US" sz="17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26650" y="2449283"/>
            <a:ext cx="2917168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>
              <a:lnSpc>
                <a:spcPts val="1755"/>
              </a:lnSpc>
              <a:buSzPct val="100000"/>
              <a:buFontTx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SAS-to-R transition guide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Training curriculum and schedule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SME network and support 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Change management support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Modernization/Adoption dashboard</a:t>
            </a:r>
            <a:endParaRPr lang="en-US" sz="13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8775" y="1882775"/>
            <a:ext cx="3397250" cy="2855072"/>
          </a:xfrm>
          <a:prstGeom prst="roundRect">
            <a:avLst>
              <a:gd name="adj" fmla="val 3852"/>
            </a:avLst>
          </a:prstGeom>
          <a:solidFill>
            <a:srgbClr val="FFFFFF"/>
          </a:solidFill>
          <a:ln w="6350">
            <a:solidFill>
              <a:srgbClr val="DCDFD8"/>
            </a:solidFill>
            <a:prstDash val="solid"/>
          </a:ln>
        </p:spPr>
        <p:txBody>
          <a:bodyPr>
            <a:noAutofit/>
          </a:bodyPr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10006" y="2088604"/>
            <a:ext cx="302283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303A"/>
                </a:solidFill>
                <a:latin typeface="+mj-lt"/>
                <a:ea typeface="Arial" pitchFamily="34" charset="-122"/>
                <a:cs typeface="Arial" pitchFamily="34" charset="-120"/>
              </a:rPr>
              <a:t>Dependencies and success</a:t>
            </a:r>
            <a:endParaRPr lang="en-US" sz="17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08050" y="2449283"/>
            <a:ext cx="2917168" cy="136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Every group supplies content and experts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Management sponsor protects learning time</a:t>
            </a:r>
            <a:endParaRPr lang="en-US" sz="1300" dirty="0">
              <a:latin typeface="+mj-lt"/>
            </a:endParaRPr>
          </a:p>
          <a:p>
            <a:pPr marL="155956" indent="-155956" algn="l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2A3A40"/>
                </a:solidFill>
                <a:latin typeface="+mj-lt"/>
                <a:ea typeface="Arial" pitchFamily="34" charset="-122"/>
                <a:cs typeface="Arial" pitchFamily="34" charset="-120"/>
              </a:rPr>
              <a:t>Success: target% of programmers trained and active; change management practices in use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rnization Working Groups">
  <a:themeElements>
    <a:clrScheme name="Modernization Working Groups">
      <a:dk1>
        <a:srgbClr val="14303A"/>
      </a:dk1>
      <a:lt1>
        <a:srgbClr val="F6F5F0"/>
      </a:lt1>
      <a:dk2>
        <a:srgbClr val="4D6168"/>
      </a:dk2>
      <a:lt2>
        <a:srgbClr val="DFE1DE"/>
      </a:lt2>
      <a:accent1>
        <a:srgbClr val="0F766E"/>
      </a:accent1>
      <a:accent2>
        <a:srgbClr val="5B6A70"/>
      </a:accent2>
      <a:accent3>
        <a:srgbClr val="9AA0A6"/>
      </a:accent3>
      <a:accent4>
        <a:srgbClr val="6E7F83"/>
      </a:accent4>
      <a:accent5>
        <a:srgbClr val="909C9E"/>
      </a:accent5>
      <a:accent6>
        <a:srgbClr val="B2BAB9"/>
      </a:accent6>
      <a:hlink>
        <a:srgbClr val="0563C1"/>
      </a:hlink>
      <a:folHlink>
        <a:srgbClr val="954F72"/>
      </a:folHlink>
    </a:clrScheme>
    <a:fontScheme name="Modernization Working Grou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883</Words>
  <Application>Microsoft Office PowerPoint</Application>
  <PresentationFormat>Widescreen</PresentationFormat>
  <Paragraphs>166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Modernization Working Groups</vt:lpstr>
      <vt:lpstr>What Is a GBS SCE Working Group?</vt:lpstr>
      <vt:lpstr>GBS SCE Working Groups at a Glance</vt:lpstr>
      <vt:lpstr>Open Source and Git</vt:lpstr>
      <vt:lpstr>E2E Metadata</vt:lpstr>
      <vt:lpstr>AI and Workflow Automation</vt:lpstr>
      <vt:lpstr>Risk-Based Validation and GxP</vt:lpstr>
      <vt:lpstr>Data Flow and Analytics</vt:lpstr>
      <vt:lpstr>Submissions</vt:lpstr>
      <vt:lpstr>Change Management and Skill Building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Modernization Working Groups</dc:title>
  <dc:subject/>
  <dc:creator/>
  <cp:lastModifiedBy>Narasi K</cp:lastModifiedBy>
  <cp:revision>4</cp:revision>
  <dcterms:created xsi:type="dcterms:W3CDTF">2026-10-29T09:58:33Z</dcterms:created>
  <dcterms:modified xsi:type="dcterms:W3CDTF">2026-10-29T10:48:46Z</dcterms:modified>
</cp:coreProperties>
</file>