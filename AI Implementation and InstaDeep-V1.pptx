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2" r:id="rId6"/>
    <p:sldId id="263" r:id="rId7"/>
    <p:sldId id="267" r:id="rId8"/>
    <p:sldId id="264" r:id="rId9"/>
    <p:sldId id="266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226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640E7-87D2-4053-A0DA-CFCF93D6598E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0F2E4-698A-4101-A49C-08B4498E56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832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F2E4-698A-4101-A49C-08B4498E564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15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F2E4-698A-4101-A49C-08B4498E564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318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0D97-B03B-58C2-B4FE-91C6A56F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A3514-9811-1704-6D64-5DEE8D721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5087B-08F9-E724-4DC9-849F76D3C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08D0F-27B7-DA88-ED60-F98DDBC4F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0F2E4-698A-4101-A49C-08B4498E564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4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9727" y="1485940"/>
            <a:ext cx="3505200" cy="378702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423527" y="1485940"/>
            <a:ext cx="3505200" cy="3787022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57327" y="1485940"/>
            <a:ext cx="3505200" cy="378702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>
            <a:softEdge rad="3175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572840"/>
            <a:ext cx="3515899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of </a:t>
            </a:r>
            <a:r>
              <a:rPr lang="en-US"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in our I</a:t>
            </a: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5452" y="2568199"/>
            <a:ext cx="3073606" cy="1012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75"/>
              </a:lnSpc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Growing Adoption and Stability: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1575"/>
              </a:lnSpc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Many of the t</a:t>
            </a: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op 20 biopharma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have experimented AI use, and/or moving from </a:t>
            </a: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isolated AI coding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piloting</a:t>
            </a: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 enterprise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-level</a:t>
            </a: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852" y="1724064"/>
            <a:ext cx="3037611" cy="2154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sz="14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852" y="2076490"/>
            <a:ext cx="3124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Manual Double Programming: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100% manual recoding for independent QC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852" y="2571790"/>
            <a:ext cx="3124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Siloed Spec Extraction: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Human parsing of PDF SAPs into SDTM/ADaM specs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852" y="3067090"/>
            <a:ext cx="3124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High Maintenance Overhead: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Macro libraries requiring study-specific patches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852" y="3562390"/>
            <a:ext cx="3124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R vs. SAS Transition: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Hybrid friction in validated production environments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652" y="1724064"/>
            <a:ext cx="3025741" cy="2154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AI-Augmented </a:t>
            </a:r>
            <a:r>
              <a:rPr lang="en-US"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endParaRPr sz="1400"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61652" y="2076490"/>
            <a:ext cx="3124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Automated TLF Generation: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Automated d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raft tables and figures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1652" y="2571790"/>
            <a:ext cx="3124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Semantic Metadata: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CDISC 360 &amp; USDM enabling auto-mapping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1652" y="3067090"/>
            <a:ext cx="3124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Tailored </a:t>
            </a: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Synthetic Data: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Faster SDTMs with minimal risk</a:t>
            </a:r>
            <a:endParaRPr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61652" y="3562390"/>
            <a:ext cx="31242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Shift to </a:t>
            </a: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Verification: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QC r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ole evolves from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duplicated effort 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to logic auditor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5452" y="1724065"/>
            <a:ext cx="2977111" cy="21544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Adoption and Impact</a:t>
            </a:r>
            <a:endParaRPr sz="1400" b="1" i="0" u="none" dirty="0">
              <a:solidFill>
                <a:srgbClr val="0F17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95451" y="2080025"/>
            <a:ext cx="3175949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Efficiency: </a:t>
            </a:r>
            <a:r>
              <a:rPr lang="en-US" sz="1300" i="0" u="none" dirty="0">
                <a:latin typeface="Arial" panose="020B0604020202020204" pitchFamily="34" charset="0"/>
                <a:cs typeface="Arial" panose="020B0604020202020204" pitchFamily="34" charset="0"/>
              </a:rPr>
              <a:t>SDTM mapping, ADaM </a:t>
            </a:r>
          </a:p>
          <a:p>
            <a:pPr algn="l"/>
            <a:r>
              <a:rPr lang="en-US" sz="1300" i="0" u="none" dirty="0">
                <a:latin typeface="Arial" panose="020B0604020202020204" pitchFamily="34" charset="0"/>
                <a:cs typeface="Arial" panose="020B0604020202020204" pitchFamily="34" charset="0"/>
              </a:rPr>
              <a:t>derivation and </a:t>
            </a:r>
            <a:r>
              <a:rPr sz="1300" i="0" u="none" dirty="0">
                <a:latin typeface="Arial" panose="020B0604020202020204" pitchFamily="34" charset="0"/>
                <a:cs typeface="Arial" panose="020B0604020202020204" pitchFamily="34" charset="0"/>
              </a:rPr>
              <a:t>TLF drafting time</a:t>
            </a:r>
            <a:r>
              <a:rPr lang="en-US" sz="130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i="0" u="none" dirty="0">
                <a:latin typeface="Arial" panose="020B0604020202020204" pitchFamily="34" charset="0"/>
                <a:cs typeface="Arial" panose="020B0604020202020204" pitchFamily="34" charset="0"/>
              </a:rPr>
              <a:t>reduction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B5D46-936C-03F2-E7A4-419F51A7DD68}"/>
              </a:ext>
            </a:extLst>
          </p:cNvPr>
          <p:cNvSpPr txBox="1"/>
          <p:nvPr/>
        </p:nvSpPr>
        <p:spPr>
          <a:xfrm>
            <a:off x="8395450" y="3634999"/>
            <a:ext cx="3175949" cy="1422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75"/>
              </a:lnSpc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Governance and Regulation: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1575"/>
              </a:lnSpc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Regulators have published guidance on ethical use of AI in trials and coding. Stringent guardrails and human-in-the-loop approval gates are mandated, including in  Computer System Validation (CSV) steps for AI solutions.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23D093-12C0-96D6-F4D2-D302373A0216}"/>
              </a:ext>
            </a:extLst>
          </p:cNvPr>
          <p:cNvSpPr txBox="1"/>
          <p:nvPr/>
        </p:nvSpPr>
        <p:spPr>
          <a:xfrm>
            <a:off x="927852" y="5430774"/>
            <a:ext cx="310700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Huge scope for benefits from AI</a:t>
            </a:r>
            <a:endParaRPr sz="1600"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28B590-9CAA-5DF8-317B-6FB77D02D6B9}"/>
              </a:ext>
            </a:extLst>
          </p:cNvPr>
          <p:cNvSpPr txBox="1"/>
          <p:nvPr/>
        </p:nvSpPr>
        <p:spPr>
          <a:xfrm>
            <a:off x="4661652" y="5426797"/>
            <a:ext cx="317234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Plenty of potential and promises</a:t>
            </a:r>
            <a:endParaRPr sz="1600"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9185FA-238B-4736-255E-300F4B7AFFDA}"/>
              </a:ext>
            </a:extLst>
          </p:cNvPr>
          <p:cNvSpPr txBox="1"/>
          <p:nvPr/>
        </p:nvSpPr>
        <p:spPr>
          <a:xfrm>
            <a:off x="8395452" y="5430774"/>
            <a:ext cx="272831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Excitement but with caution</a:t>
            </a:r>
            <a:endParaRPr sz="1600"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rot="5400000">
            <a:off x="1458888" y="3080822"/>
            <a:ext cx="3506986" cy="6534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0145" y="609600"/>
            <a:ext cx="4397551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the AI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724" y="2215596"/>
            <a:ext cx="24670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 in Statistical Programming</a:t>
            </a:r>
            <a:r>
              <a:rPr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12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2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Quantitative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964" y="1356727"/>
            <a:ext cx="2364971" cy="215444"/>
          </a:xfrm>
          <a:prstGeom prst="rect">
            <a:avLst/>
          </a:prstGeom>
          <a:solidFill>
            <a:schemeClr val="bg2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1400" i="0" u="none" dirty="0">
                <a:latin typeface="Arial" panose="020B0604020202020204" pitchFamily="34" charset="0"/>
                <a:cs typeface="Arial" panose="020B0604020202020204" pitchFamily="34" charset="0"/>
              </a:rPr>
              <a:t> Level 1</a:t>
            </a:r>
            <a:endParaRPr sz="14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4724" y="1618637"/>
            <a:ext cx="1792259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 AI</a:t>
            </a:r>
            <a:r>
              <a:rPr lang="en-US" sz="14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Patterns and ML</a:t>
            </a:r>
            <a:endParaRPr sz="1200" i="0" u="none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7964" y="3107147"/>
            <a:ext cx="2332685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Mathematical &amp; statistical pattern </a:t>
            </a: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matching and learning </a:t>
            </a:r>
            <a:r>
              <a:rPr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endParaRPr lang="en-US" sz="13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simulations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 predictions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65254" y="5533801"/>
            <a:ext cx="5132815" cy="196849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i="0" u="none" dirty="0">
                <a:solidFill>
                  <a:srgbClr val="1453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Human-in-the-loop signoff gates</a:t>
            </a:r>
            <a:r>
              <a:rPr lang="en-US" b="1" i="0" u="none" dirty="0">
                <a:solidFill>
                  <a:srgbClr val="1453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every level</a:t>
            </a:r>
            <a:endParaRPr b="1" i="0" u="none" dirty="0">
              <a:solidFill>
                <a:srgbClr val="1453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1C898C-79A0-3CA0-A837-5396831CCA45}"/>
              </a:ext>
            </a:extLst>
          </p:cNvPr>
          <p:cNvSpPr txBox="1"/>
          <p:nvPr/>
        </p:nvSpPr>
        <p:spPr>
          <a:xfrm>
            <a:off x="3401435" y="1618637"/>
            <a:ext cx="1792259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Generative AI </a:t>
            </a:r>
          </a:p>
          <a:p>
            <a:r>
              <a:rPr lang="en-US" sz="1200" i="0" u="none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 &amp; RAG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FD9D43-12C6-3EF6-2389-001F53CD6BE2}"/>
              </a:ext>
            </a:extLst>
          </p:cNvPr>
          <p:cNvSpPr txBox="1"/>
          <p:nvPr/>
        </p:nvSpPr>
        <p:spPr>
          <a:xfrm>
            <a:off x="6141950" y="1618637"/>
            <a:ext cx="1907183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Autonomous Agents</a:t>
            </a:r>
          </a:p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Agents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2F10CD-1DBF-3148-CD1F-A9FF5038E079}"/>
              </a:ext>
            </a:extLst>
          </p:cNvPr>
          <p:cNvSpPr txBox="1"/>
          <p:nvPr/>
        </p:nvSpPr>
        <p:spPr>
          <a:xfrm>
            <a:off x="8963743" y="1618637"/>
            <a:ext cx="2055007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Multi-Agent Systems</a:t>
            </a:r>
          </a:p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Agentic AI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9893DA-3380-63E0-50B6-85454F3DAAD2}"/>
              </a:ext>
            </a:extLst>
          </p:cNvPr>
          <p:cNvSpPr txBox="1"/>
          <p:nvPr/>
        </p:nvSpPr>
        <p:spPr>
          <a:xfrm>
            <a:off x="3364675" y="1356727"/>
            <a:ext cx="2364971" cy="215444"/>
          </a:xfrm>
          <a:prstGeom prst="rect">
            <a:avLst/>
          </a:prstGeom>
          <a:solidFill>
            <a:schemeClr val="bg2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1400" i="0" u="none" dirty="0">
                <a:latin typeface="Arial" panose="020B0604020202020204" pitchFamily="34" charset="0"/>
                <a:cs typeface="Arial" panose="020B0604020202020204" pitchFamily="34" charset="0"/>
              </a:rPr>
              <a:t> Level 2</a:t>
            </a:r>
            <a:endParaRPr sz="14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685FD75-088E-2CD4-09C6-B16F65414395}"/>
              </a:ext>
            </a:extLst>
          </p:cNvPr>
          <p:cNvSpPr txBox="1"/>
          <p:nvPr/>
        </p:nvSpPr>
        <p:spPr>
          <a:xfrm>
            <a:off x="6096000" y="1356727"/>
            <a:ext cx="2364971" cy="215444"/>
          </a:xfrm>
          <a:prstGeom prst="rect">
            <a:avLst/>
          </a:prstGeom>
          <a:solidFill>
            <a:schemeClr val="bg2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1400" i="0" u="none" dirty="0">
                <a:latin typeface="Arial" panose="020B0604020202020204" pitchFamily="34" charset="0"/>
                <a:cs typeface="Arial" panose="020B0604020202020204" pitchFamily="34" charset="0"/>
              </a:rPr>
              <a:t> Level 3</a:t>
            </a:r>
            <a:endParaRPr sz="14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C8472D2-5ADE-D201-CA68-362F759103C8}"/>
              </a:ext>
            </a:extLst>
          </p:cNvPr>
          <p:cNvSpPr txBox="1"/>
          <p:nvPr/>
        </p:nvSpPr>
        <p:spPr>
          <a:xfrm>
            <a:off x="8908267" y="1356727"/>
            <a:ext cx="2364971" cy="215444"/>
          </a:xfrm>
          <a:prstGeom prst="rect">
            <a:avLst/>
          </a:prstGeom>
          <a:solidFill>
            <a:schemeClr val="bg2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1400" i="0" u="none" dirty="0">
                <a:latin typeface="Arial" panose="020B0604020202020204" pitchFamily="34" charset="0"/>
                <a:cs typeface="Arial" panose="020B0604020202020204" pitchFamily="34" charset="0"/>
              </a:rPr>
              <a:t> Level 4</a:t>
            </a:r>
            <a:endParaRPr sz="14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20771ED-1EC8-FFB3-2058-A7CB89692520}"/>
              </a:ext>
            </a:extLst>
          </p:cNvPr>
          <p:cNvSpPr txBox="1"/>
          <p:nvPr/>
        </p:nvSpPr>
        <p:spPr>
          <a:xfrm>
            <a:off x="3364675" y="3107147"/>
            <a:ext cx="2387897" cy="95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generation / quality / translation (Ex: SAS to R)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aCRF annotation synthesis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SAP-to-spec text generation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3EA03BD-A5FB-2986-BA92-22812A2F8DA1}"/>
              </a:ext>
            </a:extLst>
          </p:cNvPr>
          <p:cNvSpPr txBox="1"/>
          <p:nvPr/>
        </p:nvSpPr>
        <p:spPr>
          <a:xfrm>
            <a:off x="3401435" y="2235065"/>
            <a:ext cx="24670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Copilot &amp; Assistant</a:t>
            </a:r>
            <a:endParaRPr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67BFDF4-3B08-F3B7-209A-9783BEFCC952}"/>
              </a:ext>
            </a:extLst>
          </p:cNvPr>
          <p:cNvSpPr txBox="1"/>
          <p:nvPr/>
        </p:nvSpPr>
        <p:spPr>
          <a:xfrm>
            <a:off x="6174115" y="2273330"/>
            <a:ext cx="246704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US" sz="12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Autonomous Problem Solving</a:t>
            </a:r>
            <a:endParaRPr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828CE74-825F-BBF3-F53B-27F3C0572429}"/>
              </a:ext>
            </a:extLst>
          </p:cNvPr>
          <p:cNvSpPr txBox="1"/>
          <p:nvPr/>
        </p:nvSpPr>
        <p:spPr>
          <a:xfrm>
            <a:off x="8995908" y="2243044"/>
            <a:ext cx="267303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US" sz="12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Workflow Automation/Orchestration</a:t>
            </a:r>
            <a:endParaRPr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A420030-CB3B-4C7F-4785-26D0CEE16C1B}"/>
              </a:ext>
            </a:extLst>
          </p:cNvPr>
          <p:cNvSpPr txBox="1"/>
          <p:nvPr/>
        </p:nvSpPr>
        <p:spPr>
          <a:xfrm>
            <a:off x="6155727" y="3107147"/>
            <a:ext cx="250668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Goal-driven execution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log, fixes syntax errors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Runs Pinnacle 21 &amp; resolves or narrows down on issues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Executes unit testing loops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915E6B-D10E-4A47-17AA-6D1D08B41387}"/>
              </a:ext>
            </a:extLst>
          </p:cNvPr>
          <p:cNvSpPr txBox="1"/>
          <p:nvPr/>
        </p:nvSpPr>
        <p:spPr>
          <a:xfrm>
            <a:off x="8980499" y="3107147"/>
            <a:ext cx="2688445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Collaborative end-to-end study data pipelines and workflows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 changes triggers spec updates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ADaM updates triggers TLF rebuild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4F679ED-607B-C252-CCED-A9E81AE45592}"/>
              </a:ext>
            </a:extLst>
          </p:cNvPr>
          <p:cNvSpPr/>
          <p:nvPr/>
        </p:nvSpPr>
        <p:spPr>
          <a:xfrm rot="5400000">
            <a:off x="4138690" y="3080822"/>
            <a:ext cx="3506986" cy="6534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B2D5C19-AE9C-4A18-777B-9BAB514E0D9D}"/>
              </a:ext>
            </a:extLst>
          </p:cNvPr>
          <p:cNvSpPr/>
          <p:nvPr/>
        </p:nvSpPr>
        <p:spPr>
          <a:xfrm rot="5400000">
            <a:off x="6959645" y="3072720"/>
            <a:ext cx="3506986" cy="6534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69DF5C5-A962-9AFF-5C1E-3F469B3E9295}"/>
              </a:ext>
            </a:extLst>
          </p:cNvPr>
          <p:cNvSpPr txBox="1"/>
          <p:nvPr/>
        </p:nvSpPr>
        <p:spPr>
          <a:xfrm>
            <a:off x="611312" y="4885765"/>
            <a:ext cx="108407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ML: Machine Learning | LLM: Large Language Model | RAG: Retrieval Augmented Generation</a:t>
            </a:r>
            <a:r>
              <a:rPr lang="en-US" sz="13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6999DCC-72C0-767D-1730-20481CE82063}"/>
              </a:ext>
            </a:extLst>
          </p:cNvPr>
          <p:cNvSpPr txBox="1"/>
          <p:nvPr/>
        </p:nvSpPr>
        <p:spPr>
          <a:xfrm>
            <a:off x="694724" y="2801629"/>
            <a:ext cx="246704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Use Cases:</a:t>
            </a:r>
            <a:endParaRPr sz="1200"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212770" y="3216874"/>
            <a:ext cx="3810000" cy="1188541"/>
          </a:xfrm>
          <a:prstGeom prst="roundRect">
            <a:avLst>
              <a:gd name="adj" fmla="val 480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770" y="4557816"/>
            <a:ext cx="114300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8950079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Generative AI: The Developer Copilot for </a:t>
            </a:r>
            <a:r>
              <a:rPr lang="en-US"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Programming</a:t>
            </a:r>
            <a:endParaRPr sz="2250" b="1" i="0" u="none" dirty="0">
              <a:solidFill>
                <a:srgbClr val="0F17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3930" y="1317733"/>
            <a:ext cx="10616415" cy="276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Accelerating Code from Spec to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30" y="1698733"/>
            <a:ext cx="5830565" cy="708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Generative AI translates natural language and clinical specifications into clean, standard-compliant SAS and R programs,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significantly reducing development time and improving quality and consistency.</a:t>
            </a:r>
            <a:endParaRPr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12770" y="2740624"/>
            <a:ext cx="3905250" cy="346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&gt; Input: "Derive AVAL for baseline-adjusted change in HbA1c (PARAMCD = 'GLUC') in ADLBC."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2770" y="4538766"/>
            <a:ext cx="3905250" cy="338554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1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Requires human oversight: GenAI has zero semantic comprehension of clinical safety definitions.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2770" y="2388199"/>
            <a:ext cx="1716817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# Prompt-to-ADaM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5945" y="2397724"/>
            <a:ext cx="105798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GPT-4o / Claude 3.5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7070" y="3331174"/>
            <a:ext cx="367665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1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Generated R (admiral):</a:t>
            </a:r>
            <a:r>
              <a:rPr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11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adlbc &lt;- derive_param_chg(</a:t>
            </a:r>
            <a:r>
              <a:rPr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11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  dataset = adlbc,</a:t>
            </a:r>
            <a:r>
              <a:rPr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11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  by_vars = exprs(USUBJID, PARAMCD),</a:t>
            </a:r>
            <a:r>
              <a:rPr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11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  input_code = "GLUC"</a:t>
            </a:r>
            <a:r>
              <a:rPr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11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9230" y="2626264"/>
            <a:ext cx="1894749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SAS to R Modernization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9230" y="2816764"/>
            <a:ext cx="533526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Direct syntactic conversion between SAS macros and validated R packages.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9230" y="3309917"/>
            <a:ext cx="204402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SAP-Aware RAG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9230" y="3500417"/>
            <a:ext cx="5255137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Retrieval-Augmented Generation parses protocol amendments and creates draft table shells.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9230" y="4008162"/>
            <a:ext cx="2202526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Synthetic SDTM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9230" y="4198662"/>
            <a:ext cx="5189149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Generates structurally realistic dummy data conforming to CDISC CT for pre-database-lock testing.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18EB01-12AB-F632-FD97-F6BEABEE0F58}"/>
              </a:ext>
            </a:extLst>
          </p:cNvPr>
          <p:cNvSpPr txBox="1"/>
          <p:nvPr/>
        </p:nvSpPr>
        <p:spPr>
          <a:xfrm>
            <a:off x="1137912" y="6067725"/>
            <a:ext cx="9916176" cy="196849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1" i="0" u="none" dirty="0">
                <a:latin typeface="Arial" panose="020B0604020202020204" pitchFamily="34" charset="0"/>
                <a:cs typeface="Arial" panose="020B0604020202020204" pitchFamily="34" charset="0"/>
              </a:rPr>
              <a:t>GenAI supplemented by RAG has strong potential for statistical programming automation</a:t>
            </a:r>
            <a:endParaRPr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010C23-D32F-6D64-8F97-EB248AE134D9}"/>
              </a:ext>
            </a:extLst>
          </p:cNvPr>
          <p:cNvSpPr txBox="1"/>
          <p:nvPr/>
        </p:nvSpPr>
        <p:spPr>
          <a:xfrm>
            <a:off x="1169230" y="4736873"/>
            <a:ext cx="1290418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GenAI with </a:t>
            </a: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5EC323-EFA0-150D-6E73-BB649491D4C8}"/>
              </a:ext>
            </a:extLst>
          </p:cNvPr>
          <p:cNvSpPr txBox="1"/>
          <p:nvPr/>
        </p:nvSpPr>
        <p:spPr>
          <a:xfrm>
            <a:off x="1169231" y="4927373"/>
            <a:ext cx="5118448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Retrieval-Augmented Generation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provides the context for GenAI and helps keep the responses/outcomes grounded to the sources, which is highly beneficial for establishing regulatory guardrails.</a:t>
            </a:r>
            <a:endParaRPr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5847" y="2362243"/>
            <a:ext cx="2357437" cy="2081807"/>
          </a:xfrm>
          <a:prstGeom prst="roundRect">
            <a:avLst>
              <a:gd name="adj" fmla="val 54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517634" y="2362243"/>
            <a:ext cx="2357437" cy="2081807"/>
          </a:xfrm>
          <a:prstGeom prst="roundRect">
            <a:avLst>
              <a:gd name="adj" fmla="val 54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89422" y="2362243"/>
            <a:ext cx="2357437" cy="2081807"/>
          </a:xfrm>
          <a:prstGeom prst="roundRect">
            <a:avLst>
              <a:gd name="adj" fmla="val 54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261209" y="2362243"/>
            <a:ext cx="2357437" cy="2081807"/>
          </a:xfrm>
          <a:prstGeom prst="roundRect">
            <a:avLst>
              <a:gd name="adj" fmla="val 549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784" y="3326947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72" y="3326947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359" y="3326947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965" y="2600368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753" y="2600368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9540" y="2600368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1328" y="2600368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3128" y="2733718"/>
            <a:ext cx="1428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7290" y="2733718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8603" y="2733718"/>
            <a:ext cx="2190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0865" y="2733718"/>
            <a:ext cx="2381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609600"/>
            <a:ext cx="10318081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Agents and </a:t>
            </a: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Agentic AI </a:t>
            </a:r>
            <a:r>
              <a:rPr lang="en-US"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250" b="1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Statistical Programming Workflow Orchestration</a:t>
            </a:r>
            <a:endParaRPr sz="2250" b="1" i="0" u="none" dirty="0">
              <a:solidFill>
                <a:srgbClr val="0F17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5588" y="1792314"/>
            <a:ext cx="955550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Moving beyond static LLM prompts to self-</a:t>
            </a:r>
            <a:r>
              <a:rPr lang="en-US"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improving</a:t>
            </a:r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, multi-agent loops coordinating entire clinical deliverables.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227" y="4565017"/>
            <a:ext cx="22752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Metadata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1015" y="4565017"/>
            <a:ext cx="22752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Execution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802" y="4565017"/>
            <a:ext cx="22752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Self-Debugging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90" y="4565017"/>
            <a:ext cx="22752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Audit &amp; Accountability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477" y="3209968"/>
            <a:ext cx="1664175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1. Spec Parser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28" y="3476668"/>
            <a:ext cx="206935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Ingests machine-readable SAP / USDM definitions and creates schema graph.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4716" y="3209968"/>
            <a:ext cx="118327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2. Coder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1046" y="3480203"/>
            <a:ext cx="2030611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Drafts SDTM/ADaM</a:t>
            </a:r>
            <a:r>
              <a:rPr lang="en-US"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/TFL</a:t>
            </a: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using verified macro libraries &amp; R </a:t>
            </a:r>
            <a:r>
              <a:rPr lang="en-US"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packages</a:t>
            </a: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2233" y="3209968"/>
            <a:ext cx="147181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3. QC &amp; Log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5269" y="3476668"/>
            <a:ext cx="1925739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Executes batch, inspects logs for </a:t>
            </a:r>
            <a:r>
              <a:rPr lang="en-US"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errors and </a:t>
            </a: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warnings,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queries Pinnacle 21, updates </a:t>
            </a:r>
            <a:r>
              <a:rPr lang="en-US"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code as applicable.</a:t>
            </a:r>
            <a:endParaRPr sz="12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85526" y="3209968"/>
            <a:ext cx="170880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4. Human Gatekeeper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4825" y="3473666"/>
            <a:ext cx="1699742" cy="897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Independent QC/verification and r</a:t>
            </a: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eviews, audit</a:t>
            </a:r>
            <a:r>
              <a:rPr lang="en-US"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of AI </a:t>
            </a:r>
          </a:p>
          <a:p>
            <a:pPr algn="ctr">
              <a:lnSpc>
                <a:spcPts val="1364"/>
              </a:lnSpc>
            </a:pPr>
            <a:r>
              <a:rPr lang="en-US"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steps and logic; </a:t>
            </a: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r>
              <a:rPr lang="en-US"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sz="12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formal 21 CFR signoff.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A9C05E-BE2C-473B-7E3E-ABB7DABE5EED}"/>
              </a:ext>
            </a:extLst>
          </p:cNvPr>
          <p:cNvSpPr txBox="1"/>
          <p:nvPr/>
        </p:nvSpPr>
        <p:spPr>
          <a:xfrm>
            <a:off x="2364722" y="5714219"/>
            <a:ext cx="7509492" cy="196849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Agentic AI is the Auto-Pilot; the Human is the Captain in the Cockpit</a:t>
            </a:r>
            <a:endParaRPr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297424"/>
            <a:ext cx="3505200" cy="3354669"/>
          </a:xfrm>
          <a:prstGeom prst="roundRect">
            <a:avLst>
              <a:gd name="adj" fmla="val 615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43400" y="1297424"/>
            <a:ext cx="3505200" cy="3354669"/>
          </a:xfrm>
          <a:prstGeom prst="roundRect">
            <a:avLst>
              <a:gd name="adj" fmla="val 615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77200" y="1297424"/>
            <a:ext cx="3505200" cy="3354669"/>
          </a:xfrm>
          <a:prstGeom prst="roundRect">
            <a:avLst>
              <a:gd name="adj" fmla="val 615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64125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1564125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1564125"/>
            <a:ext cx="1905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38150"/>
            <a:ext cx="4776949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Adoption Challenges &amp; </a:t>
            </a:r>
            <a:r>
              <a:rPr lang="en-US" sz="225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Resistance</a:t>
            </a:r>
            <a:endParaRPr sz="2250"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5825" y="6046639"/>
            <a:ext cx="10706100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Cultural </a:t>
            </a:r>
            <a:r>
              <a:rPr lang="en-US"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esistance</a:t>
            </a:r>
            <a:r>
              <a:rPr lang="en-US"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"Black box anxiety" remain high. Successful program</a:t>
            </a:r>
            <a:r>
              <a:rPr lang="en-US"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mer</a:t>
            </a:r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s treat AI not as an </a:t>
            </a:r>
            <a:endParaRPr lang="en-US" sz="1400"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364"/>
              </a:lnSpc>
            </a:pPr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autonomous replacement, but as an auditable junior programmer requiring strict sign-off.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859400"/>
            <a:ext cx="2998411" cy="2654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LLMs confidently invent non-existent SAS procedures (e.g., PROC ADVERSE) or hallucinate R parameter arguments.</a:t>
            </a:r>
            <a:endParaRPr lang="en-US"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575"/>
              </a:lnSpc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575"/>
              </a:lnSpc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AI Data Drift happens when the real scenario is too different from what the model was trained on.</a:t>
            </a:r>
          </a:p>
          <a:p>
            <a:pPr algn="l">
              <a:lnSpc>
                <a:spcPts val="1575"/>
              </a:lnSpc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575"/>
              </a:lnSpc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AI Concept Drift creeps in when the underlying relationship between the data and the real-world outcome changes over time.</a:t>
            </a:r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6325" y="4825827"/>
            <a:ext cx="2377254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Mitigation: </a:t>
            </a:r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Supplement with </a:t>
            </a:r>
            <a:r>
              <a:rPr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to force responses grounded to </a:t>
            </a:r>
          </a:p>
          <a:p>
            <a:pPr algn="l"/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the source documents (SAP, </a:t>
            </a:r>
          </a:p>
          <a:p>
            <a:pPr algn="l"/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Protocol, Specs)</a:t>
            </a:r>
            <a:endParaRPr sz="12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525" y="1859400"/>
            <a:ext cx="3124200" cy="807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Sending patient narratives or confidential study protocols to open external multi-tenant LLM endpoints violates HIPAA and GDPR.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6775" y="4825827"/>
            <a:ext cx="265136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Mitigation: </a:t>
            </a:r>
            <a:r>
              <a:rPr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irtual </a:t>
            </a:r>
            <a:r>
              <a:rPr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rivate C</a:t>
            </a:r>
            <a:r>
              <a:rPr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louds</a:t>
            </a:r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Environments.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sharing guardrails </a:t>
            </a:r>
          </a:p>
          <a:p>
            <a:pPr algn="l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with human approval gates.</a:t>
            </a:r>
            <a:endParaRPr sz="12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15325" y="1859400"/>
            <a:ext cx="3124200" cy="807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If both primary and validation programmers use the exact same AI model/prompt, shared bias destroys the principle of independent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2025" y="4825827"/>
            <a:ext cx="2530244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Mitigation: </a:t>
            </a:r>
            <a:r>
              <a:rPr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Enforce independent </a:t>
            </a:r>
            <a:endParaRPr lang="en-US" sz="12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validation boundaries.</a:t>
            </a:r>
            <a:r>
              <a:rPr lang="en-US" sz="120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AI vs Human </a:t>
            </a:r>
          </a:p>
          <a:p>
            <a:pPr algn="l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 better than AI vs AI for compliance </a:t>
            </a:r>
          </a:p>
          <a:p>
            <a:pPr algn="l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unbiased QC.</a:t>
            </a:r>
            <a:endParaRPr sz="120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76325" y="1535550"/>
            <a:ext cx="1998945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AI </a:t>
            </a: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Hallucinat</a:t>
            </a:r>
            <a:r>
              <a:rPr lang="en-US"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ion and Drift</a:t>
            </a:r>
            <a:endParaRPr sz="1300"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8225" y="1535550"/>
            <a:ext cx="152285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Data Privacy Leaks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2025" y="1535550"/>
            <a:ext cx="1886735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Double QC Degradation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749700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54460" y="1368624"/>
            <a:ext cx="3530500" cy="3074717"/>
          </a:xfrm>
          <a:prstGeom prst="roundRect">
            <a:avLst>
              <a:gd name="adj" fmla="val 51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275460" y="1368624"/>
            <a:ext cx="3530649" cy="3074717"/>
          </a:xfrm>
          <a:prstGeom prst="roundRect">
            <a:avLst>
              <a:gd name="adj" fmla="val 51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996610" y="1368624"/>
            <a:ext cx="3530500" cy="3074717"/>
          </a:xfrm>
          <a:prstGeom prst="roundRect">
            <a:avLst>
              <a:gd name="adj" fmla="val 51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968775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85" y="1616274"/>
            <a:ext cx="2381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585" y="1616274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4735" y="1616274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6080704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Regulatory Frameworks: FDA, EMA &amp; GAMP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4902100"/>
            <a:ext cx="10363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Regulatory</a:t>
            </a:r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 Golden Rule:</a:t>
            </a:r>
            <a:r>
              <a:rPr sz="14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4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uthorities evaluate the </a:t>
            </a:r>
            <a:r>
              <a:rPr sz="1400" b="0" i="1" u="none" dirty="0">
                <a:latin typeface="Arial" panose="020B0604020202020204" pitchFamily="34" charset="0"/>
                <a:cs typeface="Arial" panose="020B0604020202020204" pitchFamily="34" charset="0"/>
              </a:rPr>
              <a:t>validity, traceability, and reproducibility</a:t>
            </a:r>
            <a:r>
              <a:rPr sz="14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of the final clinical datasets and TLFs</a:t>
            </a:r>
            <a:r>
              <a:rPr lang="en-US" sz="14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sz="14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not whether an AI or human typed the underlying syntax.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910" y="1606749"/>
            <a:ext cx="259660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Regulatory Guidance on </a:t>
            </a:r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AI/ML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985" y="1930599"/>
            <a:ext cx="2822894" cy="53860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Total Product Life Cycle (TPLC):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Continuous monitoring of model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985" y="2533146"/>
            <a:ext cx="2822894" cy="53860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Audit Trails: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Every prompt, seed, version, and AI modification must be immutably recorded.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985" y="3186237"/>
            <a:ext cx="2822894" cy="53860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Predetermined Change Control Plans (PCCP):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Documenting expected retraining scope.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0285" y="1606749"/>
            <a:ext cx="159973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GAMP </a:t>
            </a:r>
            <a:r>
              <a:rPr lang="en-US"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Compliance</a:t>
            </a:r>
            <a:endParaRPr sz="1400" b="1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65985" y="1930599"/>
            <a:ext cx="2924913" cy="53860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Treated as </a:t>
            </a: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Custom Software: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AI algorithms treated as non-standard custom software components.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5985" y="2546931"/>
            <a:ext cx="2924913" cy="53860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Output-Based Verification: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Emphasize output validation and independent verification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5985" y="3161888"/>
            <a:ext cx="2924913" cy="53860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>
              <a:lnSpc>
                <a:spcPts val="1364"/>
              </a:lnSpc>
            </a:pP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Fitness for Intended Use: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Test general-purpose models and generated code for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intended use.</a:t>
            </a:r>
            <a:endParaRPr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01435" y="1606749"/>
            <a:ext cx="265592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Human Accountability Mandate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7135" y="1930599"/>
            <a:ext cx="2686754" cy="53860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The "Human in the Loop" Rule: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AI cannot sign off on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gated human approvals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7134" y="2546931"/>
            <a:ext cx="2820009" cy="538609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Accountability and</a:t>
            </a: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 Responsibility: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Human in the loop 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assumes full legal accountability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87135" y="3186236"/>
            <a:ext cx="2686754" cy="71814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Deterministic Final Runs: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Output submitted to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regulators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must be executed on a locked, validated en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vironment including AI models.</a:t>
            </a:r>
            <a:endParaRPr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427699-B24B-7AD0-BB01-01812C4F07C0}"/>
              </a:ext>
            </a:extLst>
          </p:cNvPr>
          <p:cNvSpPr txBox="1"/>
          <p:nvPr/>
        </p:nvSpPr>
        <p:spPr>
          <a:xfrm>
            <a:off x="885825" y="6046639"/>
            <a:ext cx="1070610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The key question is not “Is this AI model/use good?” but “Is this approach credible enough for this specific use?”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2A5FF-60B6-32D7-D419-38013180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79BA071-6464-9213-D32B-731AF98C0E84}"/>
              </a:ext>
            </a:extLst>
          </p:cNvPr>
          <p:cNvSpPr txBox="1"/>
          <p:nvPr/>
        </p:nvSpPr>
        <p:spPr>
          <a:xfrm>
            <a:off x="609600" y="609600"/>
            <a:ext cx="4226542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Regulatory </a:t>
            </a:r>
            <a:r>
              <a:rPr lang="en-US"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Guidance Available</a:t>
            </a:r>
            <a:endParaRPr sz="2250" b="1" i="0" u="none" dirty="0">
              <a:solidFill>
                <a:srgbClr val="0F17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25E4A98F-C1A3-9920-6751-748E6F05F998}"/>
              </a:ext>
            </a:extLst>
          </p:cNvPr>
          <p:cNvSpPr/>
          <p:nvPr/>
        </p:nvSpPr>
        <p:spPr>
          <a:xfrm>
            <a:off x="812800" y="2745833"/>
            <a:ext cx="10566400" cy="0"/>
          </a:xfrm>
          <a:prstGeom prst="line">
            <a:avLst/>
          </a:prstGeom>
          <a:noFill/>
          <a:ln w="6350">
            <a:solidFill>
              <a:srgbClr val="CFCABB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989F8E6B-BB30-1174-4B67-71D94DA2C21C}"/>
              </a:ext>
            </a:extLst>
          </p:cNvPr>
          <p:cNvSpPr/>
          <p:nvPr/>
        </p:nvSpPr>
        <p:spPr>
          <a:xfrm>
            <a:off x="812800" y="2123442"/>
            <a:ext cx="327025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FDA draft guidance (Jan 2025)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A3F341AB-907D-F0A5-5235-5F82AB3E9A1D}"/>
              </a:ext>
            </a:extLst>
          </p:cNvPr>
          <p:cNvSpPr/>
          <p:nvPr/>
        </p:nvSpPr>
        <p:spPr>
          <a:xfrm>
            <a:off x="4241800" y="2123442"/>
            <a:ext cx="735152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Risk-based credibility framework for AI supporting regulatory decisions, built on context of use.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A74B4E3B-C902-ACB4-2371-025653B7152F}"/>
              </a:ext>
            </a:extLst>
          </p:cNvPr>
          <p:cNvSpPr/>
          <p:nvPr/>
        </p:nvSpPr>
        <p:spPr>
          <a:xfrm>
            <a:off x="812800" y="3279955"/>
            <a:ext cx="10566400" cy="0"/>
          </a:xfrm>
          <a:prstGeom prst="line">
            <a:avLst/>
          </a:prstGeom>
          <a:noFill/>
          <a:ln w="6350">
            <a:solidFill>
              <a:srgbClr val="CFCABB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B33DFFAA-0330-1A87-10CB-C49905E09631}"/>
              </a:ext>
            </a:extLst>
          </p:cNvPr>
          <p:cNvSpPr/>
          <p:nvPr/>
        </p:nvSpPr>
        <p:spPr>
          <a:xfrm>
            <a:off x="812800" y="2888704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FDA and EMA principles (Jan 2026)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E13CC703-48E7-FAF2-7BB3-4E80E31C3EDC}"/>
              </a:ext>
            </a:extLst>
          </p:cNvPr>
          <p:cNvSpPr/>
          <p:nvPr/>
        </p:nvSpPr>
        <p:spPr>
          <a:xfrm>
            <a:off x="4241800" y="2888704"/>
            <a:ext cx="7351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Ten non-binding guiding principles for good AI practice across the drug lifecycle.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921D79BD-627D-1A70-0D0E-C33A058E8E3B}"/>
              </a:ext>
            </a:extLst>
          </p:cNvPr>
          <p:cNvSpPr/>
          <p:nvPr/>
        </p:nvSpPr>
        <p:spPr>
          <a:xfrm>
            <a:off x="812800" y="3814081"/>
            <a:ext cx="10566400" cy="0"/>
          </a:xfrm>
          <a:prstGeom prst="line">
            <a:avLst/>
          </a:prstGeom>
          <a:noFill/>
          <a:ln w="6350">
            <a:solidFill>
              <a:srgbClr val="CFCABB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C2170515-801E-336C-A9CA-4A1A5809193C}"/>
              </a:ext>
            </a:extLst>
          </p:cNvPr>
          <p:cNvSpPr/>
          <p:nvPr/>
        </p:nvSpPr>
        <p:spPr>
          <a:xfrm>
            <a:off x="812800" y="3422830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EMA reflection paper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99EE9D43-4686-54C2-CA3F-220061D70751}"/>
              </a:ext>
            </a:extLst>
          </p:cNvPr>
          <p:cNvSpPr/>
          <p:nvPr/>
        </p:nvSpPr>
        <p:spPr>
          <a:xfrm>
            <a:off x="4241800" y="3422830"/>
            <a:ext cx="7351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Expectations for AI across the medicinal product lifecycle, including nonclinical work.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F6D96164-6EEB-E661-F7F2-EC8D1DF4B71E}"/>
              </a:ext>
            </a:extLst>
          </p:cNvPr>
          <p:cNvSpPr/>
          <p:nvPr/>
        </p:nvSpPr>
        <p:spPr>
          <a:xfrm>
            <a:off x="812800" y="4579346"/>
            <a:ext cx="10566400" cy="0"/>
          </a:xfrm>
          <a:prstGeom prst="line">
            <a:avLst/>
          </a:prstGeom>
          <a:noFill/>
          <a:ln w="6350">
            <a:solidFill>
              <a:srgbClr val="CFCABB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68A8205F-A011-A68B-FC45-80769457AA66}"/>
              </a:ext>
            </a:extLst>
          </p:cNvPr>
          <p:cNvSpPr/>
          <p:nvPr/>
        </p:nvSpPr>
        <p:spPr>
          <a:xfrm>
            <a:off x="812800" y="3956955"/>
            <a:ext cx="327025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EU AI Act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B92C4EF9-74C5-4EC1-C9BE-A5D8A2B351DC}"/>
              </a:ext>
            </a:extLst>
          </p:cNvPr>
          <p:cNvSpPr/>
          <p:nvPr/>
        </p:nvSpPr>
        <p:spPr>
          <a:xfrm>
            <a:off x="4241800" y="3956955"/>
            <a:ext cx="735152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90"/>
              </a:lnSpc>
            </a:pPr>
            <a:r>
              <a:rPr lang="en-US" sz="1400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Classification of risk-tiers and guardrails on high-risk regulatory-critical uses of AI.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16250AD3-9CFB-C46B-07F1-9217DC2B4910}"/>
              </a:ext>
            </a:extLst>
          </p:cNvPr>
          <p:cNvSpPr/>
          <p:nvPr/>
        </p:nvSpPr>
        <p:spPr>
          <a:xfrm>
            <a:off x="812800" y="5113474"/>
            <a:ext cx="10566400" cy="0"/>
          </a:xfrm>
          <a:prstGeom prst="line">
            <a:avLst/>
          </a:prstGeom>
          <a:noFill/>
          <a:ln w="6350">
            <a:solidFill>
              <a:srgbClr val="CFCABB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13E42564-964A-A640-CF4D-FEB4848690F8}"/>
              </a:ext>
            </a:extLst>
          </p:cNvPr>
          <p:cNvSpPr/>
          <p:nvPr/>
        </p:nvSpPr>
        <p:spPr>
          <a:xfrm>
            <a:off x="812800" y="4722223"/>
            <a:ext cx="32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ICH E6(R3) and GxP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271BEB15-412D-22F8-3AF3-F04299F3639E}"/>
              </a:ext>
            </a:extLst>
          </p:cNvPr>
          <p:cNvSpPr/>
          <p:nvPr/>
        </p:nvSpPr>
        <p:spPr>
          <a:xfrm>
            <a:off x="4241800" y="4722223"/>
            <a:ext cx="73515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latin typeface="Arial" panose="020B0604020202020204" pitchFamily="34" charset="0"/>
                <a:ea typeface="Helvetica" pitchFamily="34" charset="-122"/>
                <a:cs typeface="Arial" panose="020B0604020202020204" pitchFamily="34" charset="0"/>
              </a:rPr>
              <a:t>Risk-based quality, data governance and computerised-system expectations still apply.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76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8812"/>
            <a:ext cx="4733925" cy="2137741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00750" y="1928812"/>
            <a:ext cx="5581650" cy="2137741"/>
          </a:xfrm>
          <a:prstGeom prst="roundRect">
            <a:avLst>
              <a:gd name="adj" fmla="val 6091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5" y="2747962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171685"/>
            <a:ext cx="161925" cy="161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71685"/>
            <a:ext cx="161925" cy="161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5679953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Reinventing Double Programming with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2171685"/>
            <a:ext cx="3724754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u="none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Invalid Setup: Corrupted Independence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481262"/>
            <a:ext cx="3962879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Production: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Programmer A uses an AI tool to write primary SAS code. </a:t>
            </a:r>
            <a:endParaRPr lang="en-US"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Validation: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Programmer B asks the same AI tool to review Programmer A's code or generate the validation 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367781"/>
            <a:ext cx="414337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99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Single point of failure. Shared hallucinations pass undetected.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2171685"/>
            <a:ext cx="2945615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i="0" u="none" dirty="0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Validated GxP Setup: Clean </a:t>
            </a:r>
            <a:r>
              <a:rPr lang="en-US" sz="1300" b="1" i="0" u="none" dirty="0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</a:t>
            </a:r>
            <a:r>
              <a:rPr sz="1300" b="1" i="0" u="none" dirty="0">
                <a:solidFill>
                  <a:srgbClr val="1665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4367781"/>
            <a:ext cx="49911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1580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 Complete algorithmic diversity. True independent verification preserved.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B64090-C5DA-A98C-BC4C-B004FF1F2402}"/>
              </a:ext>
            </a:extLst>
          </p:cNvPr>
          <p:cNvSpPr txBox="1"/>
          <p:nvPr/>
        </p:nvSpPr>
        <p:spPr>
          <a:xfrm>
            <a:off x="6248400" y="2481262"/>
            <a:ext cx="4586551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Programmer A uses Enterprise AI Copilot to draft R/SAS code from specifications.</a:t>
            </a:r>
            <a:r>
              <a:rPr sz="1300" dirty="0"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Validation: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Programmer B independently programs validation datasets manually OR uses a completely isolated, independent algorithmic framework.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ounded Rectangle 3">
            <a:extLst>
              <a:ext uri="{FF2B5EF4-FFF2-40B4-BE49-F238E27FC236}">
                <a16:creationId xmlns:a16="http://schemas.microsoft.com/office/drawing/2014/main" id="{5A59EB37-895C-1E04-F9BE-AEA291CD334F}"/>
              </a:ext>
            </a:extLst>
          </p:cNvPr>
          <p:cNvSpPr/>
          <p:nvPr/>
        </p:nvSpPr>
        <p:spPr>
          <a:xfrm>
            <a:off x="8304279" y="1872721"/>
            <a:ext cx="3237110" cy="2974977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ounded Rectangle 1">
            <a:extLst>
              <a:ext uri="{FF2B5EF4-FFF2-40B4-BE49-F238E27FC236}">
                <a16:creationId xmlns:a16="http://schemas.microsoft.com/office/drawing/2014/main" id="{9E7D072D-2E42-919A-6F1F-D2709635D378}"/>
              </a:ext>
            </a:extLst>
          </p:cNvPr>
          <p:cNvSpPr/>
          <p:nvPr/>
        </p:nvSpPr>
        <p:spPr>
          <a:xfrm>
            <a:off x="782684" y="1849952"/>
            <a:ext cx="3237110" cy="2974977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ounded Rectangle 2">
            <a:extLst>
              <a:ext uri="{FF2B5EF4-FFF2-40B4-BE49-F238E27FC236}">
                <a16:creationId xmlns:a16="http://schemas.microsoft.com/office/drawing/2014/main" id="{68CB4B96-1764-E5E6-2D32-03BB6F79A10E}"/>
              </a:ext>
            </a:extLst>
          </p:cNvPr>
          <p:cNvSpPr/>
          <p:nvPr/>
        </p:nvSpPr>
        <p:spPr>
          <a:xfrm>
            <a:off x="4530459" y="1872721"/>
            <a:ext cx="3237110" cy="2974977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6639" y="1872722"/>
            <a:ext cx="262890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30459" y="1872722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04279" y="1872722"/>
            <a:ext cx="26289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00" y="609600"/>
            <a:ext cx="6786025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 </a:t>
            </a:r>
            <a:r>
              <a:rPr lang="en-US"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225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-Phase Enterprise Adoption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764" y="2177522"/>
            <a:ext cx="76944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764" y="2406122"/>
            <a:ext cx="1320874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Assisted 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8584" y="2177522"/>
            <a:ext cx="76944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8584" y="2406122"/>
            <a:ext cx="1398268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RAG &amp; Templates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2404" y="2177522"/>
            <a:ext cx="76944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2404" y="2406122"/>
            <a:ext cx="139461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latin typeface="Arial" panose="020B0604020202020204" pitchFamily="34" charset="0"/>
                <a:cs typeface="Arial" panose="020B0604020202020204" pitchFamily="34" charset="0"/>
              </a:rPr>
              <a:t>Agentic Pipelines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9700" y="2770830"/>
            <a:ext cx="2943908" cy="1431161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RAG connected to internal </a:t>
            </a:r>
            <a:b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macro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and standard specifications/templates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Automated aCRF &amp; spec drafting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Standard TLF automation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Formal GxP validation SOPs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6323" y="2723710"/>
            <a:ext cx="2740989" cy="170816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Multi-agent SDTM &amp; ADaM generation</a:t>
            </a:r>
            <a:endParaRPr lang="en-US"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Automated Pinnacle 21 resolution loop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Integrated CDISC metadata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Multi-agent TFL generation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Continuous audit-log tracking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A2D4C5-E94E-5ED6-7D40-B1C919FAAEDA}"/>
              </a:ext>
            </a:extLst>
          </p:cNvPr>
          <p:cNvSpPr txBox="1"/>
          <p:nvPr/>
        </p:nvSpPr>
        <p:spPr>
          <a:xfrm>
            <a:off x="944688" y="2785090"/>
            <a:ext cx="2988609" cy="1231106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300" b="0" i="0" u="none" dirty="0">
                <a:latin typeface="Arial" panose="020B0604020202020204" pitchFamily="34" charset="0"/>
                <a:cs typeface="Arial" panose="020B0604020202020204" pitchFamily="34" charset="0"/>
              </a:rPr>
              <a:t>Deploy secure enterprise LLM copilot</a:t>
            </a:r>
            <a:endParaRPr lang="en-US" sz="1300" b="0" i="0" u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Ad-hoc SAS &amp; R syntax debugging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Synthetic data dry-runs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Baseline AI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B16E0-3FE6-C1A9-2489-C4EDD5AE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C6F18F1-7E53-18AA-00FC-FAE6512C5E5C}"/>
              </a:ext>
            </a:extLst>
          </p:cNvPr>
          <p:cNvSpPr txBox="1"/>
          <p:nvPr/>
        </p:nvSpPr>
        <p:spPr>
          <a:xfrm>
            <a:off x="857729" y="843944"/>
            <a:ext cx="4873129" cy="364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6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InstaDeep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5035BE-8B21-F461-EB88-DE92910ACC26}"/>
              </a:ext>
            </a:extLst>
          </p:cNvPr>
          <p:cNvSpPr txBox="1">
            <a:spLocks/>
          </p:cNvSpPr>
          <p:nvPr/>
        </p:nvSpPr>
        <p:spPr>
          <a:xfrm>
            <a:off x="857729" y="3005484"/>
            <a:ext cx="10883392" cy="657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5040"/>
              </a:lnSpc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AI Partner and Enabler for Statistical Programming and SCE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ACFD82-CC4A-7EE3-891E-9236F3F67814}"/>
              </a:ext>
            </a:extLst>
          </p:cNvPr>
          <p:cNvSpPr/>
          <p:nvPr/>
        </p:nvSpPr>
        <p:spPr>
          <a:xfrm>
            <a:off x="857729" y="3658302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Reproducible, traceable, explainable AI for regulatory-grade analysis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FA3D06-CB51-A047-BB6C-58878C31A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297" y="536218"/>
            <a:ext cx="3178712" cy="876323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40DE99B2-07BA-9FB9-E592-CFED8B3EF04C}"/>
              </a:ext>
            </a:extLst>
          </p:cNvPr>
          <p:cNvSpPr/>
          <p:nvPr/>
        </p:nvSpPr>
        <p:spPr>
          <a:xfrm>
            <a:off x="857729" y="1246376"/>
            <a:ext cx="305080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Part of </a:t>
            </a: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BioNTech</a:t>
            </a:r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 since 2023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39849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CBBD6-A1E2-FA65-0636-780260FF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97F6DB-7936-9B49-8BA0-A322186AF882}"/>
              </a:ext>
            </a:extLst>
          </p:cNvPr>
          <p:cNvSpPr txBox="1">
            <a:spLocks/>
          </p:cNvSpPr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520"/>
              </a:lnSpc>
            </a:pPr>
            <a:r>
              <a:rPr lang="en-US" sz="3200" b="1" dirty="0">
                <a:solidFill>
                  <a:srgbClr val="1020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InstaDeep at a glance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1224EFC-53B9-03DC-4B30-F2CA58105405}"/>
              </a:ext>
            </a:extLst>
          </p:cNvPr>
          <p:cNvSpPr/>
          <p:nvPr/>
        </p:nvSpPr>
        <p:spPr>
          <a:xfrm>
            <a:off x="815975" y="1567815"/>
            <a:ext cx="5175250" cy="1369241"/>
          </a:xfrm>
          <a:prstGeom prst="roundRect">
            <a:avLst>
              <a:gd name="adj" fmla="val 7188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DF47D8B-F1DE-E9A4-DA7C-A70BE986584D}"/>
              </a:ext>
            </a:extLst>
          </p:cNvPr>
          <p:cNvSpPr/>
          <p:nvPr/>
        </p:nvSpPr>
        <p:spPr>
          <a:xfrm>
            <a:off x="1072606" y="1824446"/>
            <a:ext cx="48018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D7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BioNTech group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437599D-05D8-D869-5124-45E305AE4B5F}"/>
              </a:ext>
            </a:extLst>
          </p:cNvPr>
          <p:cNvSpPr/>
          <p:nvPr/>
        </p:nvSpPr>
        <p:spPr>
          <a:xfrm>
            <a:off x="1072606" y="2200366"/>
            <a:ext cx="480184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Deep-tech and enterprise decision-making AI company, acquired by BioNTech in 2023.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231C35A9-7134-3691-492A-50AEE897A1E9}"/>
              </a:ext>
            </a:extLst>
          </p:cNvPr>
          <p:cNvSpPr/>
          <p:nvPr/>
        </p:nvSpPr>
        <p:spPr>
          <a:xfrm>
            <a:off x="6200775" y="1567815"/>
            <a:ext cx="5175250" cy="1369241"/>
          </a:xfrm>
          <a:prstGeom prst="roundRect">
            <a:avLst>
              <a:gd name="adj" fmla="val 7188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76FDA43-F14E-72BE-E0BA-54A27EA9AA9D}"/>
              </a:ext>
            </a:extLst>
          </p:cNvPr>
          <p:cNvSpPr/>
          <p:nvPr/>
        </p:nvSpPr>
        <p:spPr>
          <a:xfrm>
            <a:off x="6457406" y="1824446"/>
            <a:ext cx="48018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D7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Reinforcement learning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F6CC997-A606-53BE-BA76-58FD62ACC608}"/>
              </a:ext>
            </a:extLst>
          </p:cNvPr>
          <p:cNvSpPr/>
          <p:nvPr/>
        </p:nvSpPr>
        <p:spPr>
          <a:xfrm>
            <a:off x="6457406" y="2200366"/>
            <a:ext cx="480184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Multi-agent coordination, dynamic control and process optimization solutions.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5D13CDD-CC60-647E-8184-6B1807359ACD}"/>
              </a:ext>
            </a:extLst>
          </p:cNvPr>
          <p:cNvSpPr/>
          <p:nvPr/>
        </p:nvSpPr>
        <p:spPr>
          <a:xfrm>
            <a:off x="815975" y="3146606"/>
            <a:ext cx="5175250" cy="1609271"/>
          </a:xfrm>
          <a:prstGeom prst="roundRect">
            <a:avLst>
              <a:gd name="adj" fmla="val 6116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D90DE8E-FEE3-7296-8888-B1CBF195A468}"/>
              </a:ext>
            </a:extLst>
          </p:cNvPr>
          <p:cNvSpPr/>
          <p:nvPr/>
        </p:nvSpPr>
        <p:spPr>
          <a:xfrm>
            <a:off x="1072606" y="3403237"/>
            <a:ext cx="48018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D7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Biological AI models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AA1A1BE-BCBF-9F79-6199-D6C1D76F7112}"/>
              </a:ext>
            </a:extLst>
          </p:cNvPr>
          <p:cNvSpPr/>
          <p:nvPr/>
        </p:nvSpPr>
        <p:spPr>
          <a:xfrm>
            <a:off x="1072606" y="3779157"/>
            <a:ext cx="4801848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Developer of Genomic models used by scientists and companies worldwide.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7F74221F-E4F0-F784-A869-EDF2041D4AC2}"/>
              </a:ext>
            </a:extLst>
          </p:cNvPr>
          <p:cNvSpPr/>
          <p:nvPr/>
        </p:nvSpPr>
        <p:spPr>
          <a:xfrm>
            <a:off x="6200775" y="3146606"/>
            <a:ext cx="5175250" cy="1609271"/>
          </a:xfrm>
          <a:prstGeom prst="roundRect">
            <a:avLst>
              <a:gd name="adj" fmla="val 6116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05867BAC-7C63-F987-B3E3-7E276E0D89D6}"/>
              </a:ext>
            </a:extLst>
          </p:cNvPr>
          <p:cNvSpPr/>
          <p:nvPr/>
        </p:nvSpPr>
        <p:spPr>
          <a:xfrm>
            <a:off x="6457406" y="3403237"/>
            <a:ext cx="48018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D7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Kyber supercomputer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67F7F08-901D-8C4F-2F02-DBC7968C1FB5}"/>
              </a:ext>
            </a:extLst>
          </p:cNvPr>
          <p:cNvSpPr/>
          <p:nvPr/>
        </p:nvSpPr>
        <p:spPr>
          <a:xfrm>
            <a:off x="6457406" y="3779157"/>
            <a:ext cx="4801848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020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Built near-exascale AI cluster on NVIDIA H100 GPUs running in-house.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740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662CA-F4D4-74FC-52C4-8FE5C6F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950E7F-B804-3274-C7E0-4942D32D2CCF}"/>
              </a:ext>
            </a:extLst>
          </p:cNvPr>
          <p:cNvSpPr txBox="1">
            <a:spLocks/>
          </p:cNvSpPr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520"/>
              </a:lnSpc>
            </a:pPr>
            <a:r>
              <a:rPr lang="en-US" sz="2800" b="1" dirty="0">
                <a:solidFill>
                  <a:srgbClr val="1020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Three capabilities that matter to statistical computing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4C41A92-9423-518A-A949-95BC21A58390}"/>
              </a:ext>
            </a:extLst>
          </p:cNvPr>
          <p:cNvSpPr/>
          <p:nvPr/>
        </p:nvSpPr>
        <p:spPr>
          <a:xfrm>
            <a:off x="867939" y="1458737"/>
            <a:ext cx="3380286" cy="2167542"/>
          </a:xfrm>
          <a:prstGeom prst="roundRect">
            <a:avLst>
              <a:gd name="adj" fmla="val 5322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2A4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811684F-E53C-794C-C480-E149C2659453}"/>
              </a:ext>
            </a:extLst>
          </p:cNvPr>
          <p:cNvSpPr/>
          <p:nvPr/>
        </p:nvSpPr>
        <p:spPr>
          <a:xfrm>
            <a:off x="1124570" y="1715368"/>
            <a:ext cx="295303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Decision-making AI</a:t>
            </a:r>
            <a:endParaRPr lang="en-US" sz="18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64CAF2F-C935-B54C-E8F5-104C7015A864}"/>
              </a:ext>
            </a:extLst>
          </p:cNvPr>
          <p:cNvSpPr/>
          <p:nvPr/>
        </p:nvSpPr>
        <p:spPr>
          <a:xfrm>
            <a:off x="1124570" y="2091289"/>
            <a:ext cx="2953036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Agentic and multi-agent systems that coordinate tasks, the basis for governed drafting and verification workflows.</a:t>
            </a:r>
            <a:endParaRPr lang="en-US" sz="13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FC2E05B7-7A19-35FA-B1DD-A811F364E57B}"/>
              </a:ext>
            </a:extLst>
          </p:cNvPr>
          <p:cNvSpPr/>
          <p:nvPr/>
        </p:nvSpPr>
        <p:spPr>
          <a:xfrm>
            <a:off x="4457775" y="1458737"/>
            <a:ext cx="3380332" cy="2167542"/>
          </a:xfrm>
          <a:prstGeom prst="roundRect">
            <a:avLst>
              <a:gd name="adj" fmla="val 5322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2A4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A0569834-EED6-48DE-A66A-651EA6598EA1}"/>
              </a:ext>
            </a:extLst>
          </p:cNvPr>
          <p:cNvSpPr/>
          <p:nvPr/>
        </p:nvSpPr>
        <p:spPr>
          <a:xfrm>
            <a:off x="4714406" y="1715368"/>
            <a:ext cx="29530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In-House AI Models</a:t>
            </a:r>
            <a:endParaRPr lang="en-US" sz="18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382188A1-277A-D18B-2DD7-EF9617CA8546}"/>
              </a:ext>
            </a:extLst>
          </p:cNvPr>
          <p:cNvSpPr/>
          <p:nvPr/>
        </p:nvSpPr>
        <p:spPr>
          <a:xfrm>
            <a:off x="4714406" y="2091289"/>
            <a:ext cx="2953082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and the BioNTech link into oncology and individualized vaccines.</a:t>
            </a:r>
            <a:endParaRPr lang="en-US" sz="13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E1C2CD63-7283-0084-C62F-C32CD244D6E6}"/>
              </a:ext>
            </a:extLst>
          </p:cNvPr>
          <p:cNvSpPr/>
          <p:nvPr/>
        </p:nvSpPr>
        <p:spPr>
          <a:xfrm>
            <a:off x="8047657" y="1458737"/>
            <a:ext cx="3380332" cy="2167542"/>
          </a:xfrm>
          <a:prstGeom prst="roundRect">
            <a:avLst>
              <a:gd name="adj" fmla="val 5322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2A4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4F589FE0-C2B9-D187-AC72-86114EAB5C16}"/>
              </a:ext>
            </a:extLst>
          </p:cNvPr>
          <p:cNvSpPr/>
          <p:nvPr/>
        </p:nvSpPr>
        <p:spPr>
          <a:xfrm>
            <a:off x="8304288" y="1715368"/>
            <a:ext cx="312052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AD550199-2760-6056-4D2E-755F0B103870}"/>
              </a:ext>
            </a:extLst>
          </p:cNvPr>
          <p:cNvSpPr/>
          <p:nvPr/>
        </p:nvSpPr>
        <p:spPr>
          <a:xfrm>
            <a:off x="8304288" y="2091289"/>
            <a:ext cx="295308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890"/>
              </a:lnSpc>
            </a:pPr>
            <a:r>
              <a:rPr lang="en-US" sz="1300" dirty="0">
                <a:latin typeface="Arial" pitchFamily="34" charset="0"/>
                <a:cs typeface="Arial" pitchFamily="34" charset="-120"/>
              </a:rPr>
              <a:t>GPU compute plus AI platform, which ties every run to an immutable, tracked container - great for auditability and submission quality.</a:t>
            </a:r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90A62785-A0CA-035A-A9CE-EA69B2F93A32}"/>
              </a:ext>
            </a:extLst>
          </p:cNvPr>
          <p:cNvSpPr txBox="1">
            <a:spLocks/>
          </p:cNvSpPr>
          <p:nvPr/>
        </p:nvSpPr>
        <p:spPr>
          <a:xfrm>
            <a:off x="875672" y="3938142"/>
            <a:ext cx="10883392" cy="54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520"/>
              </a:lnSpc>
            </a:pPr>
            <a:r>
              <a:rPr lang="en-US" sz="2000" b="1" dirty="0">
                <a:solidFill>
                  <a:srgbClr val="1020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InstaDeep can enable Statistical Programming and SCE</a:t>
            </a: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4288BEDC-B231-DDDA-FADE-E891872C9765}"/>
              </a:ext>
            </a:extLst>
          </p:cNvPr>
          <p:cNvSpPr/>
          <p:nvPr/>
        </p:nvSpPr>
        <p:spPr>
          <a:xfrm>
            <a:off x="867939" y="4554573"/>
            <a:ext cx="3380286" cy="1849301"/>
          </a:xfrm>
          <a:prstGeom prst="roundRect">
            <a:avLst>
              <a:gd name="adj" fmla="val 5322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C4F34C6F-7833-95F0-B485-DF514598253F}"/>
              </a:ext>
            </a:extLst>
          </p:cNvPr>
          <p:cNvSpPr/>
          <p:nvPr/>
        </p:nvSpPr>
        <p:spPr>
          <a:xfrm>
            <a:off x="1124570" y="4811204"/>
            <a:ext cx="295303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1. Validated compute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6B401AB8-CDF0-1601-4C15-699A48B6F76B}"/>
              </a:ext>
            </a:extLst>
          </p:cNvPr>
          <p:cNvSpPr/>
          <p:nvPr/>
        </p:nvSpPr>
        <p:spPr>
          <a:xfrm>
            <a:off x="1124570" y="5187124"/>
            <a:ext cx="2953036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Validate compute environments for SCE, Container-based workflows, and immutable storage for SAS, R and Python workloads.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833ADB45-E486-BB84-C228-7800BD4311C9}"/>
              </a:ext>
            </a:extLst>
          </p:cNvPr>
          <p:cNvSpPr/>
          <p:nvPr/>
        </p:nvSpPr>
        <p:spPr>
          <a:xfrm>
            <a:off x="4457775" y="4554573"/>
            <a:ext cx="3380332" cy="1849301"/>
          </a:xfrm>
          <a:prstGeom prst="roundRect">
            <a:avLst>
              <a:gd name="adj" fmla="val 5322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9C96F1B4-593A-460A-3A27-69D1AC784C80}"/>
              </a:ext>
            </a:extLst>
          </p:cNvPr>
          <p:cNvSpPr/>
          <p:nvPr/>
        </p:nvSpPr>
        <p:spPr>
          <a:xfrm>
            <a:off x="4714406" y="4811204"/>
            <a:ext cx="29530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2. GenAI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A277FCD1-1FEB-33B2-D2B7-510451CC3AF8}"/>
              </a:ext>
            </a:extLst>
          </p:cNvPr>
          <p:cNvSpPr/>
          <p:nvPr/>
        </p:nvSpPr>
        <p:spPr>
          <a:xfrm>
            <a:off x="4714406" y="5187124"/>
            <a:ext cx="2953082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Restricted RAG over protocols, and statistical outputs to draft CSRs, and IND content.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7E39BC89-566F-D1DA-2F4C-4E3A7BDE65DF}"/>
              </a:ext>
            </a:extLst>
          </p:cNvPr>
          <p:cNvSpPr/>
          <p:nvPr/>
        </p:nvSpPr>
        <p:spPr>
          <a:xfrm>
            <a:off x="8047657" y="4554573"/>
            <a:ext cx="3380332" cy="1849301"/>
          </a:xfrm>
          <a:prstGeom prst="roundRect">
            <a:avLst>
              <a:gd name="adj" fmla="val 5322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45E2198D-3671-3366-5A69-6902C6FB4624}"/>
              </a:ext>
            </a:extLst>
          </p:cNvPr>
          <p:cNvSpPr/>
          <p:nvPr/>
        </p:nvSpPr>
        <p:spPr>
          <a:xfrm>
            <a:off x="8304288" y="4811204"/>
            <a:ext cx="29530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3. Agentic QC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6B2835C5-2846-C246-D372-5F48AA7438C0}"/>
              </a:ext>
            </a:extLst>
          </p:cNvPr>
          <p:cNvSpPr/>
          <p:nvPr/>
        </p:nvSpPr>
        <p:spPr>
          <a:xfrm>
            <a:off x="8304288" y="5187124"/>
            <a:ext cx="2953082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Agents that cross-check narratives against TFLs and ADaM, and test drafts against regulatory checklists.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02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F30D6-E09A-A4BE-75AC-F587755D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D710B4-88D2-0808-8374-CC603CC1210E}"/>
              </a:ext>
            </a:extLst>
          </p:cNvPr>
          <p:cNvSpPr txBox="1">
            <a:spLocks/>
          </p:cNvSpPr>
          <p:nvPr/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3520"/>
              </a:lnSpc>
            </a:pPr>
            <a:r>
              <a:rPr lang="en-US" sz="2800" b="1" dirty="0">
                <a:solidFill>
                  <a:srgbClr val="1020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Use cases being evaluated with InstaDeep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2C8AC01-01B2-C29D-894C-4C430351EFEE}"/>
              </a:ext>
            </a:extLst>
          </p:cNvPr>
          <p:cNvSpPr/>
          <p:nvPr/>
        </p:nvSpPr>
        <p:spPr>
          <a:xfrm>
            <a:off x="983835" y="5007306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17AE033-4B7A-9750-BEEE-1530387CB950}"/>
              </a:ext>
            </a:extLst>
          </p:cNvPr>
          <p:cNvSpPr/>
          <p:nvPr/>
        </p:nvSpPr>
        <p:spPr>
          <a:xfrm>
            <a:off x="983835" y="5327346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Protocol, SAP, ADaM datasets and final TFLs, held in a local RAG index.</a:t>
            </a:r>
            <a:endParaRPr lang="en-US" sz="13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3F518D67-3AEC-9DC4-95F4-0DA191FA8AF5}"/>
              </a:ext>
            </a:extLst>
          </p:cNvPr>
          <p:cNvSpPr/>
          <p:nvPr/>
        </p:nvSpPr>
        <p:spPr>
          <a:xfrm>
            <a:off x="3460335" y="4804106"/>
            <a:ext cx="2527300" cy="1370330"/>
          </a:xfrm>
          <a:prstGeom prst="roundRect">
            <a:avLst>
              <a:gd name="adj" fmla="val 7414"/>
            </a:avLst>
          </a:prstGeom>
          <a:solidFill>
            <a:srgbClr val="0E7D7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3A4F75F-E0F0-D0D4-0073-57EF58FBA8CC}"/>
              </a:ext>
            </a:extLst>
          </p:cNvPr>
          <p:cNvSpPr/>
          <p:nvPr/>
        </p:nvSpPr>
        <p:spPr>
          <a:xfrm>
            <a:off x="3663535" y="5007306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agent</a:t>
            </a:r>
            <a:endParaRPr lang="en-US" sz="16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A4E67C0-7249-408C-A939-E398ADBE6DCA}"/>
              </a:ext>
            </a:extLst>
          </p:cNvPr>
          <p:cNvSpPr/>
          <p:nvPr/>
        </p:nvSpPr>
        <p:spPr>
          <a:xfrm>
            <a:off x="3663535" y="5327346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CSR summary text grounded in retrieved source material.</a:t>
            </a:r>
            <a:endParaRPr lang="en-US" sz="13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979BC764-2BA5-1594-DB04-E56621322318}"/>
              </a:ext>
            </a:extLst>
          </p:cNvPr>
          <p:cNvSpPr/>
          <p:nvPr/>
        </p:nvSpPr>
        <p:spPr>
          <a:xfrm>
            <a:off x="6140035" y="4804106"/>
            <a:ext cx="2527300" cy="1370330"/>
          </a:xfrm>
          <a:prstGeom prst="roundRect">
            <a:avLst>
              <a:gd name="adj" fmla="val 7414"/>
            </a:avLst>
          </a:prstGeom>
          <a:solidFill>
            <a:srgbClr val="E883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F427C228-1B09-53A1-4659-ECC8BDC0E409}"/>
              </a:ext>
            </a:extLst>
          </p:cNvPr>
          <p:cNvSpPr/>
          <p:nvPr/>
        </p:nvSpPr>
        <p:spPr>
          <a:xfrm>
            <a:off x="6343235" y="5007306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agent</a:t>
            </a:r>
            <a:endParaRPr lang="en-US" sz="16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7F2AE8D2-7D64-1D76-0EBB-6B254666F3A1}"/>
              </a:ext>
            </a:extLst>
          </p:cNvPr>
          <p:cNvSpPr/>
          <p:nvPr/>
        </p:nvSpPr>
        <p:spPr>
          <a:xfrm>
            <a:off x="6343235" y="5327346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each claim against the analysis dataset and flags mismatches.</a:t>
            </a:r>
            <a:endParaRPr lang="en-US" sz="13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AD7CA712-BD0E-F423-227E-71110478C60A}"/>
              </a:ext>
            </a:extLst>
          </p:cNvPr>
          <p:cNvSpPr/>
          <p:nvPr/>
        </p:nvSpPr>
        <p:spPr>
          <a:xfrm>
            <a:off x="8819735" y="4804106"/>
            <a:ext cx="2527300" cy="1370330"/>
          </a:xfrm>
          <a:prstGeom prst="roundRect">
            <a:avLst>
              <a:gd name="adj" fmla="val 7414"/>
            </a:avLst>
          </a:prstGeom>
          <a:solidFill>
            <a:srgbClr val="1020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FB0A5B08-9699-4C93-6D4E-3FD1FAF120EB}"/>
              </a:ext>
            </a:extLst>
          </p:cNvPr>
          <p:cNvSpPr/>
          <p:nvPr/>
        </p:nvSpPr>
        <p:spPr>
          <a:xfrm>
            <a:off x="9022935" y="5007306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</a:t>
            </a:r>
            <a:endParaRPr lang="en-US" sz="16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911DB68F-9598-6914-FE6F-7C9999A0123B}"/>
              </a:ext>
            </a:extLst>
          </p:cNvPr>
          <p:cNvSpPr/>
          <p:nvPr/>
        </p:nvSpPr>
        <p:spPr>
          <a:xfrm>
            <a:off x="9022935" y="5327346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the draft against FDA or EMA checklists before human review.</a:t>
            </a:r>
            <a:endParaRPr lang="en-US" sz="1300" dirty="0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8EF6A641-C870-2C7A-02E1-F5B666F7B24D}"/>
              </a:ext>
            </a:extLst>
          </p:cNvPr>
          <p:cNvSpPr/>
          <p:nvPr/>
        </p:nvSpPr>
        <p:spPr>
          <a:xfrm>
            <a:off x="983835" y="1744344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44383D9F-9620-244F-028D-793C4177665D}"/>
              </a:ext>
            </a:extLst>
          </p:cNvPr>
          <p:cNvSpPr/>
          <p:nvPr/>
        </p:nvSpPr>
        <p:spPr>
          <a:xfrm>
            <a:off x="983835" y="2064384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Protocol, Raw data, CDISC API</a:t>
            </a:r>
            <a:endParaRPr lang="en-US" sz="1300" dirty="0"/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052AC3CF-358D-C29F-27C3-6943D1DC7C6C}"/>
              </a:ext>
            </a:extLst>
          </p:cNvPr>
          <p:cNvSpPr/>
          <p:nvPr/>
        </p:nvSpPr>
        <p:spPr>
          <a:xfrm>
            <a:off x="3460335" y="1541144"/>
            <a:ext cx="2527300" cy="1370330"/>
          </a:xfrm>
          <a:prstGeom prst="roundRect">
            <a:avLst>
              <a:gd name="adj" fmla="val 7414"/>
            </a:avLst>
          </a:prstGeom>
          <a:solidFill>
            <a:srgbClr val="0E7D7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BE185064-035C-A487-0B27-65077CB12C3A}"/>
              </a:ext>
            </a:extLst>
          </p:cNvPr>
          <p:cNvSpPr/>
          <p:nvPr/>
        </p:nvSpPr>
        <p:spPr>
          <a:xfrm>
            <a:off x="3663535" y="1744344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agent</a:t>
            </a:r>
            <a:endParaRPr lang="en-US" sz="1600" dirty="0"/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6AE02ECD-3789-1C68-3613-8266DD12CAC7}"/>
              </a:ext>
            </a:extLst>
          </p:cNvPr>
          <p:cNvSpPr/>
          <p:nvPr/>
        </p:nvSpPr>
        <p:spPr>
          <a:xfrm>
            <a:off x="3663535" y="2064384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Develops SDTM mapping specifications</a:t>
            </a:r>
            <a:endParaRPr lang="en-US" sz="1300" dirty="0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2A4F95AC-EBB2-A454-2BC0-797146831872}"/>
              </a:ext>
            </a:extLst>
          </p:cNvPr>
          <p:cNvSpPr/>
          <p:nvPr/>
        </p:nvSpPr>
        <p:spPr>
          <a:xfrm>
            <a:off x="6140035" y="1541144"/>
            <a:ext cx="2527300" cy="1370330"/>
          </a:xfrm>
          <a:prstGeom prst="roundRect">
            <a:avLst>
              <a:gd name="adj" fmla="val 7414"/>
            </a:avLst>
          </a:prstGeom>
          <a:solidFill>
            <a:srgbClr val="E883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4491B587-5156-D8A0-528F-53EDCEC04612}"/>
              </a:ext>
            </a:extLst>
          </p:cNvPr>
          <p:cNvSpPr/>
          <p:nvPr/>
        </p:nvSpPr>
        <p:spPr>
          <a:xfrm>
            <a:off x="6343235" y="1744344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agent</a:t>
            </a:r>
            <a:endParaRPr lang="en-US" sz="1600" dirty="0"/>
          </a:p>
        </p:txBody>
      </p:sp>
      <p:sp>
        <p:nvSpPr>
          <p:cNvPr id="63" name="Text 9">
            <a:extLst>
              <a:ext uri="{FF2B5EF4-FFF2-40B4-BE49-F238E27FC236}">
                <a16:creationId xmlns:a16="http://schemas.microsoft.com/office/drawing/2014/main" id="{0415E9B7-ED3C-B898-4141-6800CDF2C309}"/>
              </a:ext>
            </a:extLst>
          </p:cNvPr>
          <p:cNvSpPr/>
          <p:nvPr/>
        </p:nvSpPr>
        <p:spPr>
          <a:xfrm>
            <a:off x="6343235" y="2064384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each mapping in the specifications against CDISC standards; revises specs.</a:t>
            </a:r>
            <a:endParaRPr lang="en-US" sz="1300" dirty="0"/>
          </a:p>
        </p:txBody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EADC4D06-7794-344B-43CD-7DB6886C22A8}"/>
              </a:ext>
            </a:extLst>
          </p:cNvPr>
          <p:cNvSpPr/>
          <p:nvPr/>
        </p:nvSpPr>
        <p:spPr>
          <a:xfrm>
            <a:off x="8819735" y="1541144"/>
            <a:ext cx="2527300" cy="1370330"/>
          </a:xfrm>
          <a:prstGeom prst="roundRect">
            <a:avLst>
              <a:gd name="adj" fmla="val 7414"/>
            </a:avLst>
          </a:prstGeom>
          <a:solidFill>
            <a:srgbClr val="1020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2F98D4FB-9D4B-F19D-53A7-438BA5E1F7D7}"/>
              </a:ext>
            </a:extLst>
          </p:cNvPr>
          <p:cNvSpPr/>
          <p:nvPr/>
        </p:nvSpPr>
        <p:spPr>
          <a:xfrm>
            <a:off x="9022935" y="1744344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</a:t>
            </a:r>
            <a:endParaRPr lang="en-US" sz="1600" dirty="0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03B0CD70-64FF-B310-8B1C-24BB9C395359}"/>
              </a:ext>
            </a:extLst>
          </p:cNvPr>
          <p:cNvSpPr/>
          <p:nvPr/>
        </p:nvSpPr>
        <p:spPr>
          <a:xfrm>
            <a:off x="9022935" y="2064384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compliance using CDISC CORE validation rules.</a:t>
            </a:r>
            <a:endParaRPr lang="en-US" sz="1300" dirty="0"/>
          </a:p>
        </p:txBody>
      </p:sp>
      <p:sp>
        <p:nvSpPr>
          <p:cNvPr id="71" name="Text 2">
            <a:extLst>
              <a:ext uri="{FF2B5EF4-FFF2-40B4-BE49-F238E27FC236}">
                <a16:creationId xmlns:a16="http://schemas.microsoft.com/office/drawing/2014/main" id="{1615F127-8374-2C4D-2258-38FA1012FFFA}"/>
              </a:ext>
            </a:extLst>
          </p:cNvPr>
          <p:cNvSpPr/>
          <p:nvPr/>
        </p:nvSpPr>
        <p:spPr>
          <a:xfrm>
            <a:off x="983835" y="3317874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212E04D2-C6ED-0150-DC86-25CFCD856257}"/>
              </a:ext>
            </a:extLst>
          </p:cNvPr>
          <p:cNvSpPr/>
          <p:nvPr/>
        </p:nvSpPr>
        <p:spPr>
          <a:xfrm>
            <a:off x="983835" y="3637914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Protocol, Raw data, CDISC API, SDTM datasets</a:t>
            </a:r>
            <a:endParaRPr lang="en-US" sz="1300" dirty="0"/>
          </a:p>
        </p:txBody>
      </p:sp>
      <p:sp>
        <p:nvSpPr>
          <p:cNvPr id="75" name="Shape 4">
            <a:extLst>
              <a:ext uri="{FF2B5EF4-FFF2-40B4-BE49-F238E27FC236}">
                <a16:creationId xmlns:a16="http://schemas.microsoft.com/office/drawing/2014/main" id="{890892AA-D770-421B-2995-A169D47AD8EE}"/>
              </a:ext>
            </a:extLst>
          </p:cNvPr>
          <p:cNvSpPr/>
          <p:nvPr/>
        </p:nvSpPr>
        <p:spPr>
          <a:xfrm>
            <a:off x="3460335" y="3114674"/>
            <a:ext cx="2527300" cy="1370330"/>
          </a:xfrm>
          <a:prstGeom prst="roundRect">
            <a:avLst>
              <a:gd name="adj" fmla="val 7414"/>
            </a:avLst>
          </a:prstGeom>
          <a:solidFill>
            <a:srgbClr val="0E7D7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E4D8B0A9-97AE-722C-89AE-BBB7B81427FA}"/>
              </a:ext>
            </a:extLst>
          </p:cNvPr>
          <p:cNvSpPr/>
          <p:nvPr/>
        </p:nvSpPr>
        <p:spPr>
          <a:xfrm>
            <a:off x="3663535" y="3317874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agent</a:t>
            </a:r>
            <a:endParaRPr lang="en-US" sz="1600" dirty="0"/>
          </a:p>
        </p:txBody>
      </p:sp>
      <p:sp>
        <p:nvSpPr>
          <p:cNvPr id="79" name="Text 6">
            <a:extLst>
              <a:ext uri="{FF2B5EF4-FFF2-40B4-BE49-F238E27FC236}">
                <a16:creationId xmlns:a16="http://schemas.microsoft.com/office/drawing/2014/main" id="{70E668E3-14CB-852E-D5B4-C367BCCB15EA}"/>
              </a:ext>
            </a:extLst>
          </p:cNvPr>
          <p:cNvSpPr/>
          <p:nvPr/>
        </p:nvSpPr>
        <p:spPr>
          <a:xfrm>
            <a:off x="3663535" y="3637914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SDTM QC code.</a:t>
            </a:r>
            <a:endParaRPr lang="en-US" sz="1300" dirty="0"/>
          </a:p>
        </p:txBody>
      </p:sp>
      <p:sp>
        <p:nvSpPr>
          <p:cNvPr id="81" name="Shape 7">
            <a:extLst>
              <a:ext uri="{FF2B5EF4-FFF2-40B4-BE49-F238E27FC236}">
                <a16:creationId xmlns:a16="http://schemas.microsoft.com/office/drawing/2014/main" id="{7177081C-E15A-7408-7C05-1F6E157A8890}"/>
              </a:ext>
            </a:extLst>
          </p:cNvPr>
          <p:cNvSpPr/>
          <p:nvPr/>
        </p:nvSpPr>
        <p:spPr>
          <a:xfrm>
            <a:off x="6140035" y="3114674"/>
            <a:ext cx="2527300" cy="1370330"/>
          </a:xfrm>
          <a:prstGeom prst="roundRect">
            <a:avLst>
              <a:gd name="adj" fmla="val 7414"/>
            </a:avLst>
          </a:prstGeom>
          <a:solidFill>
            <a:srgbClr val="E883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38DBAE32-5A1F-57C6-40B3-DBA18BAEB1C3}"/>
              </a:ext>
            </a:extLst>
          </p:cNvPr>
          <p:cNvSpPr/>
          <p:nvPr/>
        </p:nvSpPr>
        <p:spPr>
          <a:xfrm>
            <a:off x="6343235" y="3317874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agent</a:t>
            </a:r>
            <a:endParaRPr lang="en-US" sz="1600" dirty="0"/>
          </a:p>
        </p:txBody>
      </p:sp>
      <p:sp>
        <p:nvSpPr>
          <p:cNvPr id="85" name="Text 9">
            <a:extLst>
              <a:ext uri="{FF2B5EF4-FFF2-40B4-BE49-F238E27FC236}">
                <a16:creationId xmlns:a16="http://schemas.microsoft.com/office/drawing/2014/main" id="{85A2F865-37A6-2962-D484-226865C11C84}"/>
              </a:ext>
            </a:extLst>
          </p:cNvPr>
          <p:cNvSpPr/>
          <p:nvPr/>
        </p:nvSpPr>
        <p:spPr>
          <a:xfrm>
            <a:off x="6343234" y="3637914"/>
            <a:ext cx="23369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0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each mapping in the dataset against CDISC standards; flags mismatches.</a:t>
            </a:r>
            <a:endParaRPr lang="en-US" sz="1300" dirty="0"/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517364EF-7F00-1975-34A8-803CE8CFAA5F}"/>
              </a:ext>
            </a:extLst>
          </p:cNvPr>
          <p:cNvSpPr/>
          <p:nvPr/>
        </p:nvSpPr>
        <p:spPr>
          <a:xfrm>
            <a:off x="8819735" y="3114674"/>
            <a:ext cx="2527300" cy="1370330"/>
          </a:xfrm>
          <a:prstGeom prst="roundRect">
            <a:avLst>
              <a:gd name="adj" fmla="val 7414"/>
            </a:avLst>
          </a:prstGeom>
          <a:solidFill>
            <a:srgbClr val="1020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9" name="Text 11">
            <a:extLst>
              <a:ext uri="{FF2B5EF4-FFF2-40B4-BE49-F238E27FC236}">
                <a16:creationId xmlns:a16="http://schemas.microsoft.com/office/drawing/2014/main" id="{214C1383-BCAE-34C4-8519-0EBC10D37925}"/>
              </a:ext>
            </a:extLst>
          </p:cNvPr>
          <p:cNvSpPr/>
          <p:nvPr/>
        </p:nvSpPr>
        <p:spPr>
          <a:xfrm>
            <a:off x="9022935" y="3317874"/>
            <a:ext cx="21845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</a:t>
            </a:r>
            <a:endParaRPr lang="en-US" sz="1600" dirty="0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CBF771E8-F83A-0CA9-10D3-99BC2391A51F}"/>
              </a:ext>
            </a:extLst>
          </p:cNvPr>
          <p:cNvSpPr/>
          <p:nvPr/>
        </p:nvSpPr>
        <p:spPr>
          <a:xfrm>
            <a:off x="9022935" y="3637914"/>
            <a:ext cx="2184527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against Pinnacle 21 compliance rules.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5792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1773</Words>
  <Application>Microsoft Office PowerPoint</Application>
  <PresentationFormat>Widescreen</PresentationFormat>
  <Paragraphs>226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Narasi K</cp:lastModifiedBy>
  <cp:revision>12</cp:revision>
  <dcterms:created xsi:type="dcterms:W3CDTF">2013-01-27T09:14:16Z</dcterms:created>
  <dcterms:modified xsi:type="dcterms:W3CDTF">2026-10-21T05:41:02Z</dcterms:modified>
  <cp:category/>
</cp:coreProperties>
</file>